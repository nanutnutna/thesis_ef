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4"/>
  </p:sldMasterIdLst>
  <p:notesMasterIdLst>
    <p:notesMasterId r:id="rId33"/>
  </p:notesMasterIdLst>
  <p:sldIdLst>
    <p:sldId id="256" r:id="rId5"/>
    <p:sldId id="257" r:id="rId6"/>
    <p:sldId id="258" r:id="rId7"/>
    <p:sldId id="266" r:id="rId8"/>
    <p:sldId id="263" r:id="rId9"/>
    <p:sldId id="265" r:id="rId10"/>
    <p:sldId id="259" r:id="rId11"/>
    <p:sldId id="269" r:id="rId12"/>
    <p:sldId id="270" r:id="rId13"/>
    <p:sldId id="279" r:id="rId14"/>
    <p:sldId id="273" r:id="rId15"/>
    <p:sldId id="261" r:id="rId16"/>
    <p:sldId id="271" r:id="rId17"/>
    <p:sldId id="283" r:id="rId18"/>
    <p:sldId id="277" r:id="rId19"/>
    <p:sldId id="282" r:id="rId20"/>
    <p:sldId id="274" r:id="rId21"/>
    <p:sldId id="281" r:id="rId22"/>
    <p:sldId id="276" r:id="rId23"/>
    <p:sldId id="284" r:id="rId24"/>
    <p:sldId id="292" r:id="rId25"/>
    <p:sldId id="285" r:id="rId26"/>
    <p:sldId id="280" r:id="rId27"/>
    <p:sldId id="286" r:id="rId28"/>
    <p:sldId id="262" r:id="rId29"/>
    <p:sldId id="287" r:id="rId30"/>
    <p:sldId id="289" r:id="rId31"/>
    <p:sldId id="291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3589" autoAdjust="0"/>
  </p:normalViewPr>
  <p:slideViewPr>
    <p:cSldViewPr snapToGrid="0">
      <p:cViewPr varScale="1">
        <p:scale>
          <a:sx n="113" d="100"/>
          <a:sy n="113" d="100"/>
        </p:scale>
        <p:origin x="8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9121A4-D034-4B95-BA56-F54B6262583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5EA3A7-4583-4489-8EAB-5225A5232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680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9F6A-2317-43EC-B7D0-AC21F0A4DD4D}" type="datetime1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98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4AFB1-A0D6-4024-B4C0-C404DBAFA618}" type="datetime1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10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3FB49-72F2-455E-A640-E9FD20BE7BB9}" type="datetime1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694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7E116-9F29-409C-93F3-BA50F099E3F1}" type="datetime1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232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01725-8A35-402E-8B39-4586124AFFA5}" type="datetime1">
              <a:rPr lang="en-US" smtClean="0"/>
              <a:t>7/5/2025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877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1631-824B-49C5-B00B-B2F1F5E3C206}" type="datetime1">
              <a:rPr lang="en-US" smtClean="0"/>
              <a:t>7/5/2025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56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B51F9-A9D6-41BA-B779-34C7E74EE098}" type="datetime1">
              <a:rPr lang="en-US" smtClean="0"/>
              <a:t>7/5/2025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104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B259D-A5C4-4188-B72C-29D2987A1EEA}" type="datetime1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015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79F9B-1F9A-41CE-9B8C-9E239D0CF92F}" type="datetime1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787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2692-D42D-4132-A883-450279537E0E}" type="datetime1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974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BA39B-FE12-4534-AE17-C62ADD4B56D5}" type="datetime1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84391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88FDA-C202-4882-AAD1-EFA2B877E306}" type="datetime1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630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8FB1-37B5-4FC9-94C6-D7435509F6D1}" type="datetime1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056860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CC448-64A4-4494-95AD-D7B43D99AF3A}" type="datetime1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455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669AB-AC16-4849-891A-CEDA657351B3}" type="datetime1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013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53C81-A7BB-45A7-8EDD-C8D9EC8832AD}" type="datetime1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26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006DFD-2A21-4189-861C-66A70C0C1D70}" type="datetime1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BEC6E05-063F-46C1-9253-25489D268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837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6B8DE-168A-BCD2-9E04-0F47F8FA3F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783" y="1049665"/>
            <a:ext cx="9879495" cy="2117920"/>
          </a:xfrm>
        </p:spPr>
        <p:txBody>
          <a:bodyPr>
            <a:noAutofit/>
          </a:bodyPr>
          <a:lstStyle/>
          <a:p>
            <a:pPr algn="l"/>
            <a:r>
              <a:rPr lang="th-TH" sz="3200" b="1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โปรแกรมค้นหาข้ามภาษาสำหรับค้นคืนค่าสัมประสิทธิ์การปล่อยก๊าซเรือนกระจก</a:t>
            </a:r>
            <a:br>
              <a:rPr lang="en-US" sz="3200" b="1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</a:br>
            <a:br>
              <a:rPr lang="en-US" sz="3200" b="1" i="0" u="none" strike="noStrike" baseline="0" dirty="0">
                <a:solidFill>
                  <a:srgbClr val="00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en-US" sz="3200" b="1" i="0" u="none" strike="noStrike" baseline="0" dirty="0">
                <a:solidFill>
                  <a:srgbClr val="00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A CROSS-LINGUAL SEARCH ENGINE FOR RETRIEVAL OF GREENHOUSE GAS EMISSION FACTORS</a:t>
            </a:r>
            <a:endParaRPr lang="en-US" sz="32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F878871-091C-A49B-13BE-8A6AB04EE0E7}"/>
              </a:ext>
            </a:extLst>
          </p:cNvPr>
          <p:cNvSpPr txBox="1">
            <a:spLocks/>
          </p:cNvSpPr>
          <p:nvPr/>
        </p:nvSpPr>
        <p:spPr>
          <a:xfrm>
            <a:off x="773723" y="3581400"/>
            <a:ext cx="3646386" cy="9862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จัดทำโดย นายณฐพจน์ หนูวงษ์</a:t>
            </a:r>
          </a:p>
          <a:p>
            <a:pPr algn="l"/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รหัสนิสิต 6770233221</a:t>
            </a:r>
            <a:r>
              <a:rPr lang="en-US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9083017-318E-A10B-1098-1E1AFA831D60}"/>
              </a:ext>
            </a:extLst>
          </p:cNvPr>
          <p:cNvSpPr txBox="1">
            <a:spLocks/>
          </p:cNvSpPr>
          <p:nvPr/>
        </p:nvSpPr>
        <p:spPr>
          <a:xfrm>
            <a:off x="656492" y="4749375"/>
            <a:ext cx="6951786" cy="9862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นิสิตปริญญาโท สาขาสาขาวิชาวิทยาศาสตร์คอมพิวเตอร์ ภาคนอกเวลาราชการ</a:t>
            </a:r>
            <a:endParaRPr lang="en-US" sz="26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algn="l"/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อาจารย์ที่ปรึกษา รศ</a:t>
            </a:r>
            <a:r>
              <a:rPr lang="en-US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.</a:t>
            </a:r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ดร</a:t>
            </a:r>
            <a:r>
              <a:rPr lang="en-US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.</a:t>
            </a:r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ญาใจ ลิ่มปิยะกรณ์</a:t>
            </a:r>
            <a:endParaRPr lang="en-US" sz="26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96310A-A51B-A625-5E30-42F7BB3BB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3429D-6373-4EED-B915-6EDA387BD368}" type="slidenum">
              <a:rPr lang="en-US" sz="180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fld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3060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3"/>
    </mc:Choice>
    <mc:Fallback xmlns="">
      <p:transition spd="slow" advTm="48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C35ACE-2DE8-4B16-AC24-9AF103C36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ADFFC45-3DC9-4433-926F-043E879D9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5F26A87-0610-435F-AA13-BD658385C9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67230" y="-8468"/>
            <a:ext cx="4763558" cy="6866467"/>
            <a:chOff x="67175" y="-8467"/>
            <a:chExt cx="4763558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6321436-5AAD-4FB6-BB0D-316D4540E8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448300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4B0BD33-3D46-4F43-947A-825DFEF610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67175" y="3681413"/>
              <a:ext cx="4763558" cy="3176587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92E26C27-E1F5-47DC-9F83-469D196C55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58764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5">
              <a:extLst>
                <a:ext uri="{FF2B5EF4-FFF2-40B4-BE49-F238E27FC236}">
                  <a16:creationId xmlns:a16="http://schemas.microsoft.com/office/drawing/2014/main" id="{95F944E7-2B4E-4AE2-B4DB-846FF8AE0B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80730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FF14952D-390F-46CC-B302-73DDD9C41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9621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867CDE55-B22A-40D0-882A-9452919EE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11788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8C409231-C942-4808-B529-DAC32A7DB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448954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D851DCE-0DFD-EBDE-E085-A6EF6DBB0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7334" y="1282701"/>
            <a:ext cx="6706445" cy="4307148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Outline</a:t>
            </a:r>
            <a:br>
              <a:rPr lang="en-US" sz="3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th-TH" sz="3400" b="0" i="0" u="none" strike="noStrike" baseline="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1.ที่มาและความสำคัญของปัญหา</a:t>
            </a:r>
            <a:br>
              <a:rPr lang="th-TH" sz="3400" b="0" i="0" u="none" strike="noStrike" baseline="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th-TH" sz="3400" b="0" i="0" u="none" strike="noStrike" baseline="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2.ทฤษฎีที่เกี่ยวข้อง</a:t>
            </a:r>
            <a:br>
              <a:rPr lang="th-TH" sz="3400" b="0" i="0" u="none" strike="noStrike" baseline="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en-US" sz="3400" b="0" i="0" u="none" strike="noStrike" baseline="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3</a:t>
            </a:r>
            <a:r>
              <a:rPr lang="th-TH" sz="3400" b="0" i="0" u="none" strike="noStrike" baseline="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.แนวคิดและวิธีการวิจัย</a:t>
            </a:r>
            <a:br>
              <a:rPr lang="th-TH" sz="3400" b="0" i="0" u="none" strike="noStrike" baseline="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en-US" sz="3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4</a:t>
            </a:r>
            <a:r>
              <a:rPr lang="th-TH" sz="3400" b="0" i="0" u="none" strike="noStrike" baseline="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</a:t>
            </a:r>
            <a:r>
              <a:rPr lang="th-TH" sz="3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การทดลอง</a:t>
            </a:r>
            <a:br>
              <a:rPr lang="th-TH" sz="3400" b="0" i="0" u="none" strike="noStrike" baseline="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en-US" sz="3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5</a:t>
            </a:r>
            <a:r>
              <a:rPr lang="th-TH" sz="3400" b="0" i="0" u="none" strike="noStrike" baseline="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</a:t>
            </a:r>
            <a:r>
              <a:rPr lang="th-TH" sz="3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ประเมินงานผลวิจัยและสรุป ข้อจำกัด ข้อเสนอแนะ</a:t>
            </a:r>
            <a:endParaRPr lang="en-US" sz="3400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9370F01-B8C9-4CE4-824C-92B2792E6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36497" y="-8468"/>
            <a:ext cx="5074930" cy="6866468"/>
          </a:xfrm>
          <a:custGeom>
            <a:avLst/>
            <a:gdLst>
              <a:gd name="connsiteX0" fmla="*/ 0 w 5074930"/>
              <a:gd name="connsiteY0" fmla="*/ 0 h 6858000"/>
              <a:gd name="connsiteX1" fmla="*/ 1249825 w 5074930"/>
              <a:gd name="connsiteY1" fmla="*/ 0 h 6858000"/>
              <a:gd name="connsiteX2" fmla="*/ 1249825 w 5074930"/>
              <a:gd name="connsiteY2" fmla="*/ 8457 h 6858000"/>
              <a:gd name="connsiteX3" fmla="*/ 5074930 w 5074930"/>
              <a:gd name="connsiteY3" fmla="*/ 8457 h 6858000"/>
              <a:gd name="connsiteX4" fmla="*/ 5074930 w 5074930"/>
              <a:gd name="connsiteY4" fmla="*/ 6858000 h 6858000"/>
              <a:gd name="connsiteX5" fmla="*/ 1249825 w 5074930"/>
              <a:gd name="connsiteY5" fmla="*/ 6858000 h 6858000"/>
              <a:gd name="connsiteX6" fmla="*/ 1109383 w 507493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4930" h="6858000">
                <a:moveTo>
                  <a:pt x="0" y="0"/>
                </a:moveTo>
                <a:lnTo>
                  <a:pt x="1249825" y="0"/>
                </a:lnTo>
                <a:lnTo>
                  <a:pt x="1249825" y="8457"/>
                </a:lnTo>
                <a:lnTo>
                  <a:pt x="5074930" y="8457"/>
                </a:lnTo>
                <a:lnTo>
                  <a:pt x="5074930" y="6858000"/>
                </a:lnTo>
                <a:lnTo>
                  <a:pt x="1249825" y="6858000"/>
                </a:lnTo>
                <a:lnTo>
                  <a:pt x="1109383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13AAAB-FE83-0E1E-460C-F5A8F76C8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902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8805A-9238-A967-5619-C437FD21A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CAA3E8-65F2-863A-13CB-AD150869EA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7139354" cy="494402"/>
          </a:xfrm>
        </p:spPr>
        <p:txBody>
          <a:bodyPr>
            <a:noAutofit/>
          </a:bodyPr>
          <a:lstStyle/>
          <a:p>
            <a:pPr algn="l"/>
            <a:r>
              <a:rPr lang="th-TH" sz="2600" b="1" i="0" u="none" strike="noStrike" baseline="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1.ที่มาและความสำคัญของปัญหา</a:t>
            </a:r>
            <a:endParaRPr lang="en-US" sz="2600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7A091D-5B00-B196-40CC-89B2216C7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342" y="3637090"/>
            <a:ext cx="7567316" cy="16841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8AAEDB-C3BD-99D2-679A-11B956AA0D00}"/>
              </a:ext>
            </a:extLst>
          </p:cNvPr>
          <p:cNvSpPr txBox="1"/>
          <p:nvPr/>
        </p:nvSpPr>
        <p:spPr>
          <a:xfrm>
            <a:off x="9879658" y="6581001"/>
            <a:ext cx="25063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https://circularmaterialhub.com/Calculate.php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4C5E321-F99B-C738-74DC-892A49AB50AD}"/>
              </a:ext>
            </a:extLst>
          </p:cNvPr>
          <p:cNvSpPr/>
          <p:nvPr/>
        </p:nvSpPr>
        <p:spPr>
          <a:xfrm>
            <a:off x="851452" y="1086551"/>
            <a:ext cx="10489095" cy="21343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600" b="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sz="2600" b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ค่าสัมประสิทธิ์การปล่อยก๊าซเรือนกระจก (</a:t>
            </a:r>
            <a:r>
              <a:rPr lang="en-US" sz="2600" b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GHGs Emission Factor: EF) </a:t>
            </a:r>
            <a:r>
              <a:rPr lang="th-TH" sz="2600" b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เป็นค่าการปล่อยก๊าซเรือนกระจกจากการผลิตหรือการบริการ ที่คิดรวมค่าการปล่อยก๊าซเรือนกระจกที่ก่อให้เกิดภาวะโลกร้อน (</a:t>
            </a:r>
            <a:r>
              <a:rPr lang="en-US" sz="2600" b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Climate Change) </a:t>
            </a:r>
            <a:r>
              <a:rPr lang="th-TH" sz="2600" b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อาทิ ก๊าซคาร์บอนไดออกไซด์ (</a:t>
            </a:r>
            <a:r>
              <a:rPr lang="en-US" sz="2600" b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CO2) </a:t>
            </a:r>
            <a:r>
              <a:rPr lang="th-TH" sz="2600" b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ก๊าซมีเทน (</a:t>
            </a:r>
            <a:r>
              <a:rPr lang="en-US" sz="2600" b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CH4)</a:t>
            </a:r>
            <a:r>
              <a:rPr lang="th-TH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</a:t>
            </a:r>
            <a:r>
              <a:rPr lang="th-TH" sz="2600" b="0" i="0" dirty="0">
                <a:solidFill>
                  <a:srgbClr val="000000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 ก๊าซไนตรัสออกไซด์ (</a:t>
            </a:r>
            <a:r>
              <a:rPr lang="en-US" sz="2600" b="0" i="0" dirty="0">
                <a:solidFill>
                  <a:srgbClr val="000000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N2O) </a:t>
            </a:r>
            <a:r>
              <a:rPr lang="en-US" sz="2600" b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</a:t>
            </a:r>
            <a:r>
              <a:rPr lang="th-TH" sz="2600" b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เป็นต้น ค่าสัมประสิทธิ์การปล่อยก๊าซเรือนกระจกนี้ มีความสำคัญต่อการประเมินคาร์บอนฟุตพรินต์เป็นอย่างมาก </a:t>
            </a:r>
            <a:endParaRPr lang="en-US" sz="26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endParaRPr lang="en-US" sz="2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03DB9D-1688-4D0C-78DE-DF66A343D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919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E712C-6584-FE42-98B4-DC0512552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DFA3EF-A814-7EDC-3672-46EB93C6A6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7139354" cy="494402"/>
          </a:xfrm>
        </p:spPr>
        <p:txBody>
          <a:bodyPr>
            <a:normAutofit/>
          </a:bodyPr>
          <a:lstStyle/>
          <a:p>
            <a:pPr algn="l"/>
            <a:r>
              <a:rPr lang="th-TH" sz="2600" b="1" i="0" u="none" strike="noStrike" baseline="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1.ที่มาและความสำคัญของปัญหา</a:t>
            </a: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2DABD3-E8B1-10EF-EFB5-81B2DDBBB24D}"/>
              </a:ext>
            </a:extLst>
          </p:cNvPr>
          <p:cNvSpPr txBox="1"/>
          <p:nvPr/>
        </p:nvSpPr>
        <p:spPr>
          <a:xfrm>
            <a:off x="7494104" y="6581001"/>
            <a:ext cx="48171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https://thaicarbonlabel.tgo.or.th/index.php?lang=TH&amp;mod=Y0hKdlpIVmpkSE5mWlcxcGMzTnBiMjQ9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CC6F04A-C49B-00F9-5CA2-15B34FFC3E8F}"/>
              </a:ext>
            </a:extLst>
          </p:cNvPr>
          <p:cNvSpPr/>
          <p:nvPr/>
        </p:nvSpPr>
        <p:spPr>
          <a:xfrm>
            <a:off x="660953" y="721180"/>
            <a:ext cx="10484126" cy="162951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6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เนื่องจากการค้นหา</a:t>
            </a:r>
            <a:r>
              <a:rPr lang="th-TH" sz="2600" b="0" dirty="0">
                <a:solidFill>
                  <a:schemeClr val="tx1"/>
                </a:solidFill>
                <a:effectLst/>
                <a:uFill>
                  <a:solidFill>
                    <a:srgbClr val="000000"/>
                  </a:solidFill>
                </a:u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ค่าสัมประสิทธิ์การปล่อยก๊าซเรือนกระจกบนเว็บไซต์ของ</a:t>
            </a:r>
            <a:r>
              <a:rPr lang="th-TH" sz="26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องค์การบริหารจัดการก๊าซเรือนกระจกไม่ยืดหยุ่น โดยจะต้องค้นหาคำที่เฉพาะเจาะจงเท่านั้น ดังนั้นจึงมีความสนใจที่จะทำให้การค้นหานั้นยืดหยุ่นขึ้นโดยสามารถที่จะค้นหาได้ทั้งภาษาไทยและภาษาอังกฤษที่มีความหมายเหมือนกัน หรือระบบค้นหาแบบ</a:t>
            </a:r>
            <a:r>
              <a:rPr lang="en-US" sz="26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2 </a:t>
            </a:r>
            <a:r>
              <a:rPr lang="th-TH" sz="26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ภาษา</a:t>
            </a:r>
            <a:endParaRPr lang="en-US" sz="2600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B35613-6E4D-8CA8-7702-FBB7B0AFA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290" y="2364159"/>
            <a:ext cx="9153098" cy="17027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0FA11D-C312-C482-4CF0-6147D5CD3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451" y="4006494"/>
            <a:ext cx="9068937" cy="1947611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E978C-14DE-DA55-CB55-04E3D28A4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123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D9706-BA24-A2E7-B363-2ACFA8B81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EF514D-63E9-302C-EBB3-9CE0A03BD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7139354" cy="494402"/>
          </a:xfrm>
        </p:spPr>
        <p:txBody>
          <a:bodyPr>
            <a:normAutofit/>
          </a:bodyPr>
          <a:lstStyle/>
          <a:p>
            <a:pPr algn="l"/>
            <a:r>
              <a:rPr lang="th-TH" sz="2600" b="1" i="0" u="none" strike="noStrike" baseline="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ขอบเขตการวิจัย</a:t>
            </a: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118285-7358-CD71-6EC7-B816A0E1C336}"/>
              </a:ext>
            </a:extLst>
          </p:cNvPr>
          <p:cNvSpPr/>
          <p:nvPr/>
        </p:nvSpPr>
        <p:spPr>
          <a:xfrm>
            <a:off x="1444488" y="1331843"/>
            <a:ext cx="8488016" cy="8945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1.ใช้ข้อมูล</a:t>
            </a:r>
            <a:r>
              <a:rPr lang="th-TH" sz="2400" b="0" i="0" u="none" strike="noStrike" baseline="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ค่าสัมประสิทธิ์การปล่อยก๊าซเรือนกระจก</a:t>
            </a:r>
            <a:r>
              <a:rPr lang="en-US" sz="2400" dirty="0" err="1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ที่เผยแพร่โดย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องค์การบริหารจัดการก๊าซเรือนกระจก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(</a:t>
            </a:r>
            <a:r>
              <a:rPr lang="en-US" sz="2400" dirty="0" err="1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องค์การมหาชน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</a:p>
          <a:p>
            <a:pPr algn="ctr"/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9EE7A1-0399-D0BF-B905-89F1EC5F0480}"/>
              </a:ext>
            </a:extLst>
          </p:cNvPr>
          <p:cNvSpPr/>
          <p:nvPr/>
        </p:nvSpPr>
        <p:spPr>
          <a:xfrm>
            <a:off x="1444487" y="2454965"/>
            <a:ext cx="8488015" cy="60884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6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26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2.ออกแบบให้สืบค้นได้ทั้งภาษาไทยและอังกฤษด้วย Synonym-based Approach</a:t>
            </a:r>
          </a:p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3B9A0F-426E-435D-0448-A614E8E02AA4}"/>
              </a:ext>
            </a:extLst>
          </p:cNvPr>
          <p:cNvSpPr/>
          <p:nvPr/>
        </p:nvSpPr>
        <p:spPr>
          <a:xfrm>
            <a:off x="1444488" y="3292407"/>
            <a:ext cx="8488014" cy="91515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6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3.ระบบสืบค้นที่ยืดหยุ่นสามารถอัปเดตข้อมูลได้อัตโนอัติเมื่อองค์การบริหารจัดการก๊าซเรือนกระจกมีการเปลี่ยนแปลงข้อมูล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E9FB95-6660-F2D9-8432-81D04C25A333}"/>
              </a:ext>
            </a:extLst>
          </p:cNvPr>
          <p:cNvSpPr/>
          <p:nvPr/>
        </p:nvSpPr>
        <p:spPr>
          <a:xfrm>
            <a:off x="1444487" y="4436165"/>
            <a:ext cx="8488013" cy="58309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6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4.</a:t>
            </a:r>
            <a:r>
              <a:rPr lang="th-TH" sz="2600" b="0" i="0" u="none" strike="noStrike" baseline="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ประเมินระบบด้วยตัววัดมาตรฐานการค้นคืนสารสนเทศ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3F8EA6-23E3-5171-AB48-37FA5BB4E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576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D8A5F-FEA3-53F0-BCF1-9547F0D08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67059E-BCFA-3F85-814B-A6192D4EAF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7139354" cy="494402"/>
          </a:xfrm>
        </p:spPr>
        <p:txBody>
          <a:bodyPr>
            <a:normAutofit/>
          </a:bodyPr>
          <a:lstStyle/>
          <a:p>
            <a:pPr algn="l"/>
            <a:r>
              <a:rPr lang="th-TH" sz="2600" b="1" i="0" u="none" strike="noStrike" baseline="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ประโยชน์ที่คาดว่าจะได้รับ</a:t>
            </a: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9429E4-926E-3F8D-8933-EEAEF099B8C3}"/>
              </a:ext>
            </a:extLst>
          </p:cNvPr>
          <p:cNvSpPr/>
          <p:nvPr/>
        </p:nvSpPr>
        <p:spPr>
          <a:xfrm>
            <a:off x="1444488" y="1331843"/>
            <a:ext cx="8488016" cy="8945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1.</a:t>
            </a:r>
            <a:r>
              <a:rPr lang="th-TH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โปรแกรมค้นหาข้ามภาษาที่ช่วยให้ผู้ใช้สามารถค้นคืนค่า 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EF </a:t>
            </a:r>
            <a:r>
              <a:rPr lang="th-TH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ได้สะดวก และเลือกใช้ค่าที่ถูกต้อง ณ เวลาประเมินรายงานคาร์บอนฟุตพรินต์</a:t>
            </a:r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2945F5-612C-808A-2457-E89F893B79CD}"/>
              </a:ext>
            </a:extLst>
          </p:cNvPr>
          <p:cNvSpPr/>
          <p:nvPr/>
        </p:nvSpPr>
        <p:spPr>
          <a:xfrm>
            <a:off x="1444488" y="2513842"/>
            <a:ext cx="8488014" cy="91515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6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2.</a:t>
            </a:r>
            <a:r>
              <a:rPr lang="th-TH" sz="26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ส่งเสริมการรายงานคาร์บอนฟุตพรินต์ โดยเฉพาะธุรกิจ </a:t>
            </a:r>
            <a:r>
              <a:rPr lang="en-US" sz="26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SME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F5D3C19-41FE-5648-31E4-C4929A201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384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E5A4C-CF91-4FBE-BBF7-1F125589A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22862E-D091-0169-35F8-847A903B15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7139354" cy="494402"/>
          </a:xfrm>
        </p:spPr>
        <p:txBody>
          <a:bodyPr>
            <a:normAutofit/>
          </a:bodyPr>
          <a:lstStyle/>
          <a:p>
            <a:pPr algn="l"/>
            <a:r>
              <a:rPr lang="en-US" sz="26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2</a:t>
            </a:r>
            <a:r>
              <a:rPr lang="th-TH" sz="2600" b="1" i="0" u="none" strike="noStrike" baseline="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.ทฤษฎีที่เกี่ยวข้อง</a:t>
            </a: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CF34D6-A454-FD07-1E41-70A92FD0FA04}"/>
              </a:ext>
            </a:extLst>
          </p:cNvPr>
          <p:cNvSpPr txBox="1"/>
          <p:nvPr/>
        </p:nvSpPr>
        <p:spPr>
          <a:xfrm>
            <a:off x="637538" y="922774"/>
            <a:ext cx="1029292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การค้นคืนสารสนเทศข้ามภาษา (</a:t>
            </a:r>
            <a:r>
              <a:rPr lang="en-US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Cross-Lingual Information Retrieval - CLIR) </a:t>
            </a:r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เป็นเทคนิคที่ช่วยให้ผู้ใช้สามารถค้นหาข้อมูลโดยใช้ภาษาใดภาษาหนึ่ง แต่ยังสามารถดึงข้อมูลจากเอกสารที่เขียนในภาษาอื่น ๆ ได้ โดยไม่จำเป็นต้องแปลข้อความทั้งหมดด้วยตนเอง</a:t>
            </a:r>
            <a:r>
              <a:rPr lang="en-US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โดยจะสร้างคลังคำพ้อง (</a:t>
            </a:r>
            <a:r>
              <a:rPr lang="en-US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Synonym Dictionary) </a:t>
            </a:r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ที่จับคู่คำในภาษาไทยและภาษาอังกฤษ</a:t>
            </a:r>
            <a:r>
              <a:rPr lang="en-US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</a:p>
          <a:p>
            <a:endParaRPr lang="en-US" sz="26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ขั้นตอนการทำงาน</a:t>
            </a:r>
          </a:p>
          <a:p>
            <a:r>
              <a:rPr lang="th-TH" sz="26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1. </a:t>
            </a:r>
            <a:r>
              <a:rPr lang="en-US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Tokenization &amp; Normalization: </a:t>
            </a:r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แยกคำในภาษาไทยและภาษาอังกฤษเพื่อให้ระบบเข้าใจคำที่ต้องการค้นหา</a:t>
            </a:r>
          </a:p>
          <a:p>
            <a:r>
              <a:rPr lang="th-TH" sz="26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2. </a:t>
            </a:r>
            <a:r>
              <a:rPr lang="en-US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Synonym Matching: </a:t>
            </a:r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ขยายคำค้นโดยใช้ </a:t>
            </a:r>
            <a:r>
              <a:rPr lang="en-US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Synonym Dictionary </a:t>
            </a:r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เช่น</a:t>
            </a:r>
          </a:p>
          <a:p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en-US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LPG ↔ Liquified Petroleum Gas ↔ </a:t>
            </a:r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ก๊าซหุงต้ม</a:t>
            </a:r>
          </a:p>
          <a:p>
            <a:r>
              <a:rPr lang="th-TH" sz="26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3. </a:t>
            </a:r>
            <a:r>
              <a:rPr lang="en-US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Indexing &amp; Searching: </a:t>
            </a:r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ใช้ </a:t>
            </a:r>
            <a:r>
              <a:rPr lang="en-US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Elasticsearch </a:t>
            </a:r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จัดเก็บข้อมูลและกำหนดให้ค้นหาผ่านชุดคำพ้อง</a:t>
            </a:r>
            <a:endParaRPr lang="en-US" sz="26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7F1B9A-C101-343A-5454-280D0FCA2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14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1A15C59-94CF-51FD-EFDA-7656E8FF6745}"/>
              </a:ext>
            </a:extLst>
          </p:cNvPr>
          <p:cNvSpPr txBox="1"/>
          <p:nvPr/>
        </p:nvSpPr>
        <p:spPr>
          <a:xfrm>
            <a:off x="1188720" y="1114475"/>
            <a:ext cx="932025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Tokenization </a:t>
            </a:r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คือกระบวนการแบ่งข้อความออกเป็นหน่วยย่อย (</a:t>
            </a:r>
            <a:r>
              <a:rPr lang="en-US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Tokens) </a:t>
            </a:r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เช่น คำ วลี หรืออักขระ ซึ่งช่วยให้ระบบสามารถวิเคราะห์และทำการค้นหาได้อย่างถูกต้อง</a:t>
            </a:r>
            <a:endParaRPr lang="en-US" sz="26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FF77C34-317A-8EF5-7461-CD125CFE81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696846"/>
              </p:ext>
            </p:extLst>
          </p:nvPr>
        </p:nvGraphicFramePr>
        <p:xfrm>
          <a:off x="1582144" y="2217419"/>
          <a:ext cx="8926830" cy="13606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92587">
                  <a:extLst>
                    <a:ext uri="{9D8B030D-6E8A-4147-A177-3AD203B41FA5}">
                      <a16:colId xmlns:a16="http://schemas.microsoft.com/office/drawing/2014/main" val="1484653792"/>
                    </a:ext>
                  </a:extLst>
                </a:gridCol>
                <a:gridCol w="4234243">
                  <a:extLst>
                    <a:ext uri="{9D8B030D-6E8A-4147-A177-3AD203B41FA5}">
                      <a16:colId xmlns:a16="http://schemas.microsoft.com/office/drawing/2014/main" val="2531270714"/>
                    </a:ext>
                  </a:extLst>
                </a:gridCol>
              </a:tblGrid>
              <a:tr h="453556">
                <a:tc>
                  <a:txBody>
                    <a:bodyPr/>
                    <a:lstStyle/>
                    <a:p>
                      <a:pPr algn="ctr" fontAlgn="ctr"/>
                      <a:r>
                        <a:rPr lang="th-TH" sz="2600" b="1" u="none" strike="noStrike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ข้อความต้นฉบับ</a:t>
                      </a:r>
                      <a:endParaRPr lang="th-TH" sz="2600" b="1" i="0" u="none" strike="noStrike" dirty="0">
                        <a:solidFill>
                          <a:srgbClr val="000000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2600" b="1" u="none" strike="noStrike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ผลลัพธ์ของ </a:t>
                      </a:r>
                      <a:r>
                        <a:rPr lang="en-US" sz="2600" b="1" u="none" strike="noStrike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Tokenization</a:t>
                      </a:r>
                      <a:endParaRPr lang="en-US" sz="2600" b="1" i="0" u="none" strike="noStrike" dirty="0">
                        <a:solidFill>
                          <a:srgbClr val="000000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9754503"/>
                  </a:ext>
                </a:extLst>
              </a:tr>
              <a:tr h="453556">
                <a:tc>
                  <a:txBody>
                    <a:bodyPr/>
                    <a:lstStyle/>
                    <a:p>
                      <a:pPr algn="l" fontAlgn="ctr"/>
                      <a:r>
                        <a:rPr lang="th-TH" sz="2600" u="none" strike="noStrike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"ก๊าซเรือนกระจกสูงขึ้น"</a:t>
                      </a:r>
                      <a:endParaRPr lang="th-TH" sz="2600" b="0" i="0" u="none" strike="noStrike" dirty="0">
                        <a:solidFill>
                          <a:srgbClr val="000000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600" u="none" strike="noStrike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["ก๊าซเรือนกระจก", "สูง", "ขึ้น"]</a:t>
                      </a:r>
                      <a:endParaRPr lang="th-TH" sz="2600" b="0" i="0" u="none" strike="noStrike" dirty="0">
                        <a:solidFill>
                          <a:srgbClr val="000000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004710"/>
                  </a:ext>
                </a:extLst>
              </a:tr>
              <a:tr h="453556">
                <a:tc>
                  <a:txBody>
                    <a:bodyPr/>
                    <a:lstStyle/>
                    <a:p>
                      <a:pPr algn="l" fontAlgn="ctr"/>
                      <a:r>
                        <a:rPr lang="th-TH" sz="2600" u="none" strike="noStrike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"การค้นคืนสารสนเทศข้ามภาษา"</a:t>
                      </a:r>
                      <a:endParaRPr lang="th-TH" sz="2600" b="0" i="0" u="none" strike="noStrike" dirty="0">
                        <a:solidFill>
                          <a:srgbClr val="000000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600" u="none" strike="noStrike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["การ", "ค้นคืน", "สารสนเทศ", "ข้าม", "ภาษา"]</a:t>
                      </a:r>
                      <a:endParaRPr lang="th-TH" sz="2600" b="0" i="0" u="none" strike="noStrike" dirty="0">
                        <a:solidFill>
                          <a:srgbClr val="000000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13751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AE25F58-432E-A813-4F19-47744B02BD30}"/>
              </a:ext>
            </a:extLst>
          </p:cNvPr>
          <p:cNvSpPr txBox="1"/>
          <p:nvPr/>
        </p:nvSpPr>
        <p:spPr>
          <a:xfrm>
            <a:off x="1450670" y="3848605"/>
            <a:ext cx="9621521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สำหรับภาษาไทยการตัดคำเป็นเรื่องที่ท้าทายเนื่องจาก </a:t>
            </a:r>
            <a:r>
              <a:rPr lang="th-TH" sz="26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ไม่มีการเว้นวรรคระหว่างคำ</a:t>
            </a:r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เหมือนภาษาอังกฤษ เช่น "ก๊าซเรือนกระจก" ควรจะเป็น 1 คำ แต่ระบบทั่วไปอาจตัดเป็น ["ก๊าซ", "เรือน", "กระจก"] ซึ่งอาจทำให้ผลลัพธ์การค้นหาไม่ถูกต้อง</a:t>
            </a:r>
            <a:endParaRPr lang="en-US" sz="26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501BAC23-6BA0-D56F-9DA9-5DC9F834960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139354" cy="4944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6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2</a:t>
            </a:r>
            <a:r>
              <a:rPr lang="th-TH" sz="26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.ทฤษฎีที่เกี่ยวข้อง</a:t>
            </a: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3BED55-6D55-5130-8339-BDD2ED6F0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865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C2A87-1704-E4E3-C926-3DABF7196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4BD7DB1-DFA1-D1DB-7B0E-D95C5AEBB32A}"/>
              </a:ext>
            </a:extLst>
          </p:cNvPr>
          <p:cNvSpPr txBox="1"/>
          <p:nvPr/>
        </p:nvSpPr>
        <p:spPr>
          <a:xfrm>
            <a:off x="629920" y="1301095"/>
            <a:ext cx="1095910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ICU Tokenizer</a:t>
            </a:r>
            <a:r>
              <a:rPr lang="en-US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เป็นตัวตัดคำที่ใช้ </a:t>
            </a:r>
            <a:r>
              <a:rPr lang="en-US" sz="26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International Components for Unicode (ICU)</a:t>
            </a:r>
            <a:r>
              <a:rPr lang="en-US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ซึ่งรองรับการตัดคำในหลายภาษา รวมถึงภาษาไทยโดย</a:t>
            </a:r>
            <a:r>
              <a:rPr lang="th-TH" sz="26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อาศัยกฎทางภาษาศาสตร์และโมเดลสถิติ</a:t>
            </a:r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แทนการใช้พจนานุกรมแบบตายตัว</a:t>
            </a:r>
            <a:endParaRPr lang="en-US" sz="26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F84FFE-B8E4-7C72-B121-3C021CF8E004}"/>
              </a:ext>
            </a:extLst>
          </p:cNvPr>
          <p:cNvSpPr txBox="1"/>
          <p:nvPr/>
        </p:nvSpPr>
        <p:spPr>
          <a:xfrm>
            <a:off x="558800" y="2379766"/>
            <a:ext cx="60960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หลักการทำงานของ </a:t>
            </a:r>
            <a:r>
              <a:rPr lang="en-US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ICU Tokenizer</a:t>
            </a:r>
          </a:p>
          <a:p>
            <a:pPr>
              <a:buFont typeface="+mj-lt"/>
              <a:buAutoNum type="arabicPeriod"/>
            </a:pPr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ใช้กฎทางภาษาศาสตร์ (</a:t>
            </a:r>
            <a:r>
              <a:rPr lang="en-US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Rule-based Tokenization)</a:t>
            </a:r>
          </a:p>
          <a:p>
            <a:pPr marL="742950" lvl="1" indent="-285750">
              <a:buFont typeface="+mj-lt"/>
              <a:buAutoNum type="arabicPeriod"/>
            </a:pPr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วิเคราะห์โครงสร้างประโยคและบริบทของคำ</a:t>
            </a:r>
          </a:p>
          <a:p>
            <a:pPr marL="742950" lvl="1" indent="-285750">
              <a:buFont typeface="+mj-lt"/>
              <a:buAutoNum type="arabicPeriod"/>
            </a:pPr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รองรับภาษาที่ไม่มีการเว้นวรรค เช่น ภาษาไทย ญี่ปุ่น จีน</a:t>
            </a:r>
          </a:p>
          <a:p>
            <a:pPr>
              <a:buFont typeface="+mj-lt"/>
              <a:buAutoNum type="arabicPeriod"/>
            </a:pPr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ใช้โมเดลสถิติช่วยในการตัดคำ (</a:t>
            </a:r>
            <a:r>
              <a:rPr lang="en-US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Statistical Model)</a:t>
            </a:r>
          </a:p>
          <a:p>
            <a:pPr marL="742950" lvl="1" indent="-285750">
              <a:buFont typeface="+mj-lt"/>
              <a:buAutoNum type="arabicPeriod"/>
            </a:pPr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แยกคำโดยดูจากความน่าจะเป็นของการเกิดขึ้นของคำ</a:t>
            </a:r>
          </a:p>
          <a:p>
            <a:pPr marL="742950" lvl="1" indent="-285750">
              <a:buFont typeface="+mj-lt"/>
              <a:buAutoNum type="arabicPeriod"/>
            </a:pPr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หากไม่มีคำในพจนานุกรม ระบบจะพิจารณาความเป็นไปได้ของการเป็นคำ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0FF64A6-ED3D-17B4-DA65-08958F20129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139354" cy="4944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6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2</a:t>
            </a:r>
            <a:r>
              <a:rPr lang="th-TH" sz="26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.ทฤษฎีที่เกี่ยวข้อง</a:t>
            </a: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4E99A3-9E8F-A64E-76D6-B4AAB42A2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040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C67CB-50DF-98DA-3D99-1A99487F1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F8BB0F8-B980-13DF-2E5B-30EC72189F4C}"/>
              </a:ext>
            </a:extLst>
          </p:cNvPr>
          <p:cNvSpPr txBox="1"/>
          <p:nvPr/>
        </p:nvSpPr>
        <p:spPr>
          <a:xfrm>
            <a:off x="672592" y="831703"/>
            <a:ext cx="10959106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i="0" u="none" strike="noStrike" baseline="0" dirty="0">
                <a:solidFill>
                  <a:srgbClr val="00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Synonym-based (Dictionary-based) </a:t>
            </a:r>
          </a:p>
          <a:p>
            <a:r>
              <a:rPr lang="th-TH" sz="2600" b="0" i="0" u="none" strike="noStrike" baseline="0" dirty="0">
                <a:solidFill>
                  <a:srgbClr val="00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ใช้คลังคำศัพท์คู่ (</a:t>
            </a:r>
            <a:r>
              <a:rPr lang="en-US" sz="2600" b="0" i="0" u="none" strike="noStrike" baseline="0" dirty="0">
                <a:solidFill>
                  <a:srgbClr val="00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Bilingual Dictionary) </a:t>
            </a:r>
            <a:r>
              <a:rPr lang="th-TH" sz="2600" b="0" i="0" u="none" strike="noStrike" baseline="0" dirty="0">
                <a:solidFill>
                  <a:srgbClr val="00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บรรจุรายการคำพ้องความหมายที่จับคู่คำหรือวลีสำคัญในภาษาไทยและภาษาอังกฤษไว้</a:t>
            </a:r>
            <a:r>
              <a:rPr lang="en-US" sz="2600" b="0" i="0" u="none" strike="noStrike" baseline="0" dirty="0">
                <a:solidFill>
                  <a:srgbClr val="00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600" b="0" i="0" u="none" strike="noStrike" baseline="0" dirty="0">
                <a:solidFill>
                  <a:srgbClr val="00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ซึ่ง คำพ้องความ (</a:t>
            </a:r>
            <a:r>
              <a:rPr lang="en-US" sz="2600" b="0" i="0" u="none" strike="noStrike" baseline="0" dirty="0">
                <a:solidFill>
                  <a:srgbClr val="00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Synonyms) </a:t>
            </a:r>
            <a:r>
              <a:rPr lang="th-TH" sz="2600" b="0" i="0" u="none" strike="noStrike" baseline="0" dirty="0">
                <a:solidFill>
                  <a:srgbClr val="00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มีความหมายคือคำหรือวลี</a:t>
            </a:r>
            <a:r>
              <a:rPr lang="en-US" sz="2600" b="0" i="0" u="none" strike="noStrike" baseline="0" dirty="0">
                <a:solidFill>
                  <a:srgbClr val="00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(</a:t>
            </a:r>
            <a:r>
              <a:rPr lang="th-TH" sz="2600" b="0" i="0" u="none" strike="noStrike" baseline="0" dirty="0">
                <a:solidFill>
                  <a:srgbClr val="00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กลุ่มคำ</a:t>
            </a:r>
            <a:r>
              <a:rPr lang="en-US" sz="2600" b="0" i="0" u="none" strike="noStrike" baseline="0" dirty="0">
                <a:solidFill>
                  <a:srgbClr val="00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) </a:t>
            </a:r>
            <a:r>
              <a:rPr lang="th-TH" sz="2600" b="0" i="0" u="none" strike="noStrike" baseline="0" dirty="0">
                <a:solidFill>
                  <a:srgbClr val="00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ที่สามารถแทนกันได้ โดยแสดงสิ่งที่เหมือนกันหรือใกล้เคียงกัน แม้ว่าจะมีความแตกต่างเล็กน้อยในบริบท แม้กระทั่งตัวย่อหรือสูตรทางเคมี</a:t>
            </a:r>
            <a:endParaRPr lang="en-US" sz="26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43D42A2-4379-81C3-1846-6C538D2CE7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139354" cy="4944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6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2</a:t>
            </a:r>
            <a:r>
              <a:rPr lang="th-TH" sz="26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.ทฤษฎีที่เกี่ยวข้อง</a:t>
            </a:r>
            <a:endParaRPr lang="en-US" sz="2600" b="1" dirty="0">
              <a:solidFill>
                <a:schemeClr val="tx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85DB622-8336-BF18-0362-FF9D6683C7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5172101"/>
              </p:ext>
            </p:extLst>
          </p:nvPr>
        </p:nvGraphicFramePr>
        <p:xfrm>
          <a:off x="1844117" y="2595916"/>
          <a:ext cx="7777226" cy="3230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70337">
                  <a:extLst>
                    <a:ext uri="{9D8B030D-6E8A-4147-A177-3AD203B41FA5}">
                      <a16:colId xmlns:a16="http://schemas.microsoft.com/office/drawing/2014/main" val="2122894405"/>
                    </a:ext>
                  </a:extLst>
                </a:gridCol>
                <a:gridCol w="4106889">
                  <a:extLst>
                    <a:ext uri="{9D8B030D-6E8A-4147-A177-3AD203B41FA5}">
                      <a16:colId xmlns:a16="http://schemas.microsoft.com/office/drawing/2014/main" val="326280194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600" b="1" u="none" strike="noStrike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English Term</a:t>
                      </a:r>
                      <a:endParaRPr lang="en-US" sz="2600" b="1" i="0" u="none" strike="noStrike" dirty="0">
                        <a:solidFill>
                          <a:srgbClr val="000000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600" b="1" u="none" strike="noStrike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Thai Term</a:t>
                      </a:r>
                      <a:endParaRPr lang="en-US" sz="2600" b="1" i="0" u="none" strike="noStrike" dirty="0">
                        <a:solidFill>
                          <a:srgbClr val="000000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1995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600" u="none" strike="noStrike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Agriculture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600" u="none" strike="noStrike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การเกษตร, เกษตรกรรม</a:t>
                      </a:r>
                      <a:endParaRPr lang="th-TH" sz="2600" b="0" i="0" u="none" strike="noStrike" dirty="0">
                        <a:solidFill>
                          <a:srgbClr val="000000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177943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600" u="none" strike="noStrike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Anthracite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600" u="none" strike="noStrike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ถ่านหินแอนทราไซต์</a:t>
                      </a:r>
                      <a:endParaRPr lang="th-TH" sz="2600" b="0" i="0" u="none" strike="noStrike">
                        <a:solidFill>
                          <a:srgbClr val="000000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361689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600" u="none" strike="noStrike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Bagasse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600" u="none" strike="noStrike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ชานอ้อย</a:t>
                      </a:r>
                      <a:endParaRPr lang="th-TH" sz="2600" b="0" i="0" u="none" strike="noStrike">
                        <a:solidFill>
                          <a:srgbClr val="000000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191568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600" u="none" strike="noStrike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Biogas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600" u="none" strike="noStrike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ก๊าซชีวภาพ</a:t>
                      </a:r>
                      <a:endParaRPr lang="th-TH" sz="2600" b="0" i="0" u="none" strike="noStrike">
                        <a:solidFill>
                          <a:srgbClr val="000000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278997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600" u="none" strike="noStrike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Cob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600" u="none" strike="noStrike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ซังข้าวโพด</a:t>
                      </a:r>
                      <a:endParaRPr lang="th-TH" sz="2600" b="0" i="0" u="none" strike="noStrike" dirty="0">
                        <a:solidFill>
                          <a:srgbClr val="000000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896643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600" u="none" strike="noStrike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CO2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600" u="none" strike="noStrike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คาร์บอนไดออกไซด์</a:t>
                      </a:r>
                      <a:endParaRPr lang="th-TH" sz="2600" b="0" i="0" u="none" strike="noStrike" dirty="0">
                        <a:solidFill>
                          <a:srgbClr val="000000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471689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600" u="none" strike="noStrike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LPG,  Liquified Petroleum Gas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600" u="none" strike="noStrike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ก๊าซหุงต้ม</a:t>
                      </a:r>
                      <a:endParaRPr lang="th-TH" sz="2600" b="0" i="0" u="none" strike="noStrike" dirty="0">
                        <a:solidFill>
                          <a:srgbClr val="000000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9489607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84B448-3C20-2D3A-B6C9-F17836273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369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6755C-CF04-5BCA-0F19-82A1613B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D13F6AE-0232-D341-120B-F083E28B913F}"/>
              </a:ext>
            </a:extLst>
          </p:cNvPr>
          <p:cNvSpPr txBox="1"/>
          <p:nvPr/>
        </p:nvSpPr>
        <p:spPr>
          <a:xfrm>
            <a:off x="592340" y="869741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600" b="1" i="0" u="none" strike="noStrike" baseline="0" dirty="0">
                <a:solidFill>
                  <a:srgbClr val="00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เทคโนโลยีและแพลตฟอร์มที่ใช้</a:t>
            </a:r>
            <a:endParaRPr lang="en-US" sz="26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CE7084-7E50-ECD4-9996-F2DCE1FD540C}"/>
              </a:ext>
            </a:extLst>
          </p:cNvPr>
          <p:cNvSpPr txBox="1"/>
          <p:nvPr/>
        </p:nvSpPr>
        <p:spPr>
          <a:xfrm>
            <a:off x="2693478" y="1558027"/>
            <a:ext cx="9578035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Elasticsearch </a:t>
            </a:r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มีคุณสมบัติเหมาะสมกับการค้นคืนข้อมูลข้ามภาษา (</a:t>
            </a:r>
            <a:r>
              <a:rPr lang="en-US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Cross-Lingual Information Retrieval) </a:t>
            </a:r>
          </a:p>
          <a:p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โดยรองรับการทำงานที่ซับซ้อน เช่น การวิเคราะห์คำพ้องความหมาย (</a:t>
            </a:r>
            <a:r>
              <a:rPr lang="en-US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Synonym Matching) </a:t>
            </a:r>
          </a:p>
          <a:p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และการค้นหาแบบ </a:t>
            </a:r>
            <a:r>
              <a:rPr lang="en-US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Full-Text Search </a:t>
            </a:r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ได้อย่างมีประสิทธิภาพ</a:t>
            </a:r>
          </a:p>
          <a:p>
            <a:r>
              <a:rPr lang="en-US" sz="26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sz="26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4047AA-216F-EE75-8B0B-71FCB5CB91F6}"/>
              </a:ext>
            </a:extLst>
          </p:cNvPr>
          <p:cNvSpPr txBox="1"/>
          <p:nvPr/>
        </p:nvSpPr>
        <p:spPr>
          <a:xfrm>
            <a:off x="2598423" y="3429000"/>
            <a:ext cx="920926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600" dirty="0">
                <a:solidFill>
                  <a:srgbClr val="00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เฟรม</a:t>
            </a:r>
            <a:r>
              <a:rPr lang="th-TH" sz="2600" b="0" i="0" u="none" strike="noStrike" baseline="0" dirty="0">
                <a:solidFill>
                  <a:srgbClr val="00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เวิร์กภาษา </a:t>
            </a:r>
            <a:r>
              <a:rPr lang="en-US" sz="2600" b="0" i="0" u="none" strike="noStrike" baseline="0" dirty="0">
                <a:solidFill>
                  <a:srgbClr val="00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Python </a:t>
            </a:r>
            <a:r>
              <a:rPr lang="th-TH" sz="2600" b="0" i="0" u="none" strike="noStrike" baseline="0" dirty="0">
                <a:solidFill>
                  <a:srgbClr val="00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ที่มีประสิทธิภาพสูง ใช้งานง่าย ทำให้สามารถสร้าง </a:t>
            </a:r>
            <a:r>
              <a:rPr lang="en-US" sz="2600" b="0" i="0" u="none" strike="noStrike" baseline="0" dirty="0">
                <a:solidFill>
                  <a:srgbClr val="00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REST API </a:t>
            </a:r>
            <a:r>
              <a:rPr lang="th-TH" sz="2600" b="0" i="0" u="none" strike="noStrike" baseline="0" dirty="0">
                <a:solidFill>
                  <a:srgbClr val="00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เพื่อเชื่อมต่อระหว่าง </a:t>
            </a:r>
            <a:r>
              <a:rPr lang="en-US" sz="2600" b="0" i="0" u="none" strike="noStrike" baseline="0" dirty="0">
                <a:solidFill>
                  <a:srgbClr val="00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Frontend </a:t>
            </a:r>
            <a:r>
              <a:rPr lang="th-TH" sz="2600" b="0" i="0" u="none" strike="noStrike" baseline="0" dirty="0">
                <a:solidFill>
                  <a:srgbClr val="00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กับ </a:t>
            </a:r>
            <a:r>
              <a:rPr lang="en-US" sz="2600" b="0" i="0" u="none" strike="noStrike" baseline="0" dirty="0">
                <a:solidFill>
                  <a:srgbClr val="00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Elasticsearch </a:t>
            </a:r>
            <a:r>
              <a:rPr lang="th-TH" sz="2600" b="0" i="0" u="none" strike="noStrike" baseline="0" dirty="0">
                <a:solidFill>
                  <a:srgbClr val="00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ได้อย่างสะดวก </a:t>
            </a:r>
            <a:r>
              <a:rPr lang="en-US" sz="2600" b="1" i="0" u="none" strike="noStrike" baseline="0" dirty="0">
                <a:solidFill>
                  <a:srgbClr val="00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sz="2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559C9F-1F20-D847-DA2B-252E3E6C5165}"/>
              </a:ext>
            </a:extLst>
          </p:cNvPr>
          <p:cNvSpPr txBox="1"/>
          <p:nvPr/>
        </p:nvSpPr>
        <p:spPr>
          <a:xfrm>
            <a:off x="2598423" y="5082642"/>
            <a:ext cx="712083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i="0" u="none" strike="noStrike" baseline="0" dirty="0">
                <a:solidFill>
                  <a:srgbClr val="00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Apache Airflow </a:t>
            </a:r>
            <a:r>
              <a:rPr lang="th-TH" sz="2600" b="0" i="0" u="none" strike="noStrike" baseline="0" dirty="0">
                <a:solidFill>
                  <a:srgbClr val="00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แพลตฟอร์มสำหรับการสร้าง</a:t>
            </a:r>
            <a:r>
              <a:rPr lang="en-US" sz="2600" b="0" i="0" u="none" strike="noStrike" baseline="0" dirty="0">
                <a:solidFill>
                  <a:srgbClr val="00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600" b="0" i="0" u="none" strike="noStrike" baseline="0" dirty="0">
                <a:solidFill>
                  <a:srgbClr val="00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จัดการ</a:t>
            </a:r>
            <a:r>
              <a:rPr lang="en-US" sz="2600" b="0" i="0" u="none" strike="noStrike" baseline="0" dirty="0">
                <a:solidFill>
                  <a:srgbClr val="00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600" b="0" i="0" u="none" strike="noStrike" baseline="0" dirty="0">
                <a:solidFill>
                  <a:srgbClr val="00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ติดตาม </a:t>
            </a:r>
            <a:r>
              <a:rPr lang="en-US" sz="2600" b="0" i="0" u="none" strike="noStrike" baseline="0" dirty="0">
                <a:solidFill>
                  <a:srgbClr val="00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Workflow </a:t>
            </a:r>
            <a:r>
              <a:rPr lang="en-US" sz="2600" b="1" i="0" u="none" strike="noStrike" baseline="0" dirty="0">
                <a:solidFill>
                  <a:srgbClr val="00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sz="2600" dirty="0"/>
          </a:p>
        </p:txBody>
      </p:sp>
      <p:pic>
        <p:nvPicPr>
          <p:cNvPr id="4" name="Picture 3" descr="A colorful circle with a black background&#10;&#10;Description automatically generated">
            <a:extLst>
              <a:ext uri="{FF2B5EF4-FFF2-40B4-BE49-F238E27FC236}">
                <a16:creationId xmlns:a16="http://schemas.microsoft.com/office/drawing/2014/main" id="{663CE4D3-BB06-55F0-A3FD-AC8FAECE4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340" y="1392819"/>
            <a:ext cx="1508795" cy="1508795"/>
          </a:xfrm>
          <a:prstGeom prst="rect">
            <a:avLst/>
          </a:prstGeom>
        </p:spPr>
      </p:pic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D481668D-3EF4-A6A2-EB2F-9A02A9A603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9000"/>
            <a:ext cx="2693478" cy="970599"/>
          </a:xfrm>
          <a:prstGeom prst="rect">
            <a:avLst/>
          </a:prstGeom>
        </p:spPr>
      </p:pic>
      <p:pic>
        <p:nvPicPr>
          <p:cNvPr id="11" name="Picture 10" descr="A logo with text on it&#10;&#10;Description automatically generated">
            <a:extLst>
              <a:ext uri="{FF2B5EF4-FFF2-40B4-BE49-F238E27FC236}">
                <a16:creationId xmlns:a16="http://schemas.microsoft.com/office/drawing/2014/main" id="{D7CDCD1C-EC37-394F-B0DE-4F6FB694D6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208" y="4915689"/>
            <a:ext cx="2139061" cy="826348"/>
          </a:xfrm>
          <a:prstGeom prst="rect">
            <a:avLst/>
          </a:prstGeom>
        </p:spPr>
      </p:pic>
      <p:sp>
        <p:nvSpPr>
          <p:cNvPr id="12" name="Title 3">
            <a:extLst>
              <a:ext uri="{FF2B5EF4-FFF2-40B4-BE49-F238E27FC236}">
                <a16:creationId xmlns:a16="http://schemas.microsoft.com/office/drawing/2014/main" id="{0428DEA1-F1F7-474F-D382-7014E2890BC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139354" cy="4944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6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2</a:t>
            </a:r>
            <a:r>
              <a:rPr lang="th-TH" sz="26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.ทฤษฎีที่เกี่ยวข้อง</a:t>
            </a: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CDB7F0-3B25-3161-B6C4-E8CFF1C66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070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AF650-62D9-E0E0-516A-1E25BDA2D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process flow&#10;&#10;AI-generated content may be incorrect.">
            <a:extLst>
              <a:ext uri="{FF2B5EF4-FFF2-40B4-BE49-F238E27FC236}">
                <a16:creationId xmlns:a16="http://schemas.microsoft.com/office/drawing/2014/main" id="{09319B22-5E36-37C1-5182-7E1E4D912E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3027" y="19050"/>
            <a:ext cx="4545893" cy="677186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3B996D-D2AE-61F0-67BE-EE965AABA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7139354" cy="494402"/>
          </a:xfrm>
        </p:spPr>
        <p:txBody>
          <a:bodyPr>
            <a:normAutofit/>
          </a:bodyPr>
          <a:lstStyle/>
          <a:p>
            <a:pPr algn="l"/>
            <a:r>
              <a:rPr lang="en-US" sz="26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3</a:t>
            </a:r>
            <a:r>
              <a:rPr lang="th-TH" sz="2600" b="1" i="0" u="none" strike="noStrike" baseline="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.แนวคิดและวิธีการวิจัย</a:t>
            </a: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A68585-E26D-5722-CBF7-0595783CC1B2}"/>
              </a:ext>
            </a:extLst>
          </p:cNvPr>
          <p:cNvSpPr/>
          <p:nvPr/>
        </p:nvSpPr>
        <p:spPr>
          <a:xfrm>
            <a:off x="5565913" y="86139"/>
            <a:ext cx="2267447" cy="4264881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5C862F-FE77-A8E9-59BE-D23708D2F147}"/>
              </a:ext>
            </a:extLst>
          </p:cNvPr>
          <p:cNvSpPr/>
          <p:nvPr/>
        </p:nvSpPr>
        <p:spPr>
          <a:xfrm>
            <a:off x="3776869" y="1537252"/>
            <a:ext cx="1431235" cy="2813768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FE891C-DB12-6148-23C0-52C49D32568A}"/>
              </a:ext>
            </a:extLst>
          </p:cNvPr>
          <p:cNvSpPr/>
          <p:nvPr/>
        </p:nvSpPr>
        <p:spPr>
          <a:xfrm>
            <a:off x="4565374" y="4651513"/>
            <a:ext cx="1298713" cy="157038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FB1C73-2ABA-5434-6689-1395EF96775C}"/>
              </a:ext>
            </a:extLst>
          </p:cNvPr>
          <p:cNvSpPr/>
          <p:nvPr/>
        </p:nvSpPr>
        <p:spPr>
          <a:xfrm>
            <a:off x="6197379" y="3801386"/>
            <a:ext cx="1258957" cy="377687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FE35F5-5082-216D-D84D-400BCCD86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421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5BAE6-9FDB-6D76-6B0E-C6264EEC9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7AEAE72-8B1A-FCBF-5005-9BDAA988ED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7139354" cy="494402"/>
          </a:xfrm>
        </p:spPr>
        <p:txBody>
          <a:bodyPr>
            <a:normAutofit/>
          </a:bodyPr>
          <a:lstStyle/>
          <a:p>
            <a:pPr algn="l"/>
            <a:r>
              <a:rPr lang="en-US" sz="26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3</a:t>
            </a:r>
            <a:r>
              <a:rPr lang="th-TH" sz="2600" b="1" i="0" u="none" strike="noStrike" baseline="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.แนวคิดและวิธีการวิจัย</a:t>
            </a: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5F0722-60F0-6EDD-5264-486EAB47FFD8}"/>
              </a:ext>
            </a:extLst>
          </p:cNvPr>
          <p:cNvSpPr txBox="1"/>
          <p:nvPr/>
        </p:nvSpPr>
        <p:spPr>
          <a:xfrm>
            <a:off x="743463" y="1243786"/>
            <a:ext cx="6876537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มีขั้นตอนดังนี้</a:t>
            </a:r>
            <a:b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th-TH" sz="26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1. </a:t>
            </a:r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รวมข้อมูลจากทั้ง</a:t>
            </a:r>
            <a:r>
              <a:rPr lang="en-US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</a:t>
            </a:r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ตารางคือ </a:t>
            </a:r>
            <a:r>
              <a:rPr lang="en-US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CFP,CFO, Carbon Label </a:t>
            </a:r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มาไว้ด้วยกัน</a:t>
            </a:r>
          </a:p>
          <a:p>
            <a:r>
              <a:rPr lang="th-TH" sz="26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2. </a:t>
            </a:r>
            <a:r>
              <a:rPr lang="en-US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Extract </a:t>
            </a:r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ข้อมูลมาจากตารางที่รวมด้วยโดย</a:t>
            </a:r>
            <a:r>
              <a:rPr lang="en-US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Extract </a:t>
            </a:r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มาจากชื่อเป็นหลักเพื่อทำการสร้างคำพ้องความหมาย</a:t>
            </a:r>
          </a:p>
          <a:p>
            <a:r>
              <a:rPr lang="en-US" sz="26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</a:t>
            </a:r>
            <a:r>
              <a:rPr lang="th-TH" sz="26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. </a:t>
            </a:r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หลังจากนั้นก็ค้นหาคำค้นจากแหล่งอ้างอิงที่เชื่อถือได้ เช่น พจนานุกรมต่างๆ</a:t>
            </a:r>
            <a:r>
              <a:rPr lang="en-US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, </a:t>
            </a:r>
            <a:r>
              <a:rPr lang="en-US" sz="26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ecoinvent</a:t>
            </a:r>
            <a:r>
              <a:rPr lang="en-US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ซึ่งเป็นเว็บไซต์เกี่ยวกับด้านสัมประสิทธิ์การปล่อยก๊าซเรือนกระจกด้วยเฉพาะ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C492AD-BF1E-02C6-096F-CCAB5F99B93F}"/>
              </a:ext>
            </a:extLst>
          </p:cNvPr>
          <p:cNvSpPr txBox="1"/>
          <p:nvPr/>
        </p:nvSpPr>
        <p:spPr>
          <a:xfrm>
            <a:off x="743462" y="708878"/>
            <a:ext cx="963506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Synonym dictionary </a:t>
            </a:r>
            <a:r>
              <a:rPr lang="th-TH" sz="26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sz="26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D2C2F2-50F7-016C-5CEF-05066B04D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7200" y="924729"/>
            <a:ext cx="2391981" cy="4731003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E4B93C-8831-8637-7588-8BDA8A1FC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245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47721-3CDB-A972-D6D6-456DDD80E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4F374D-D69D-09B3-3E46-A712196E4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7139354" cy="494402"/>
          </a:xfrm>
        </p:spPr>
        <p:txBody>
          <a:bodyPr>
            <a:normAutofit/>
          </a:bodyPr>
          <a:lstStyle/>
          <a:p>
            <a:pPr algn="l"/>
            <a:r>
              <a:rPr lang="en-US" sz="26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3</a:t>
            </a:r>
            <a:r>
              <a:rPr lang="th-TH" sz="2600" b="1" i="0" u="none" strike="noStrike" baseline="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.แนวคิดและวิธีการวิจัย</a:t>
            </a: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A8B403-2CE6-90BE-0FA7-0C80D8ABC833}"/>
              </a:ext>
            </a:extLst>
          </p:cNvPr>
          <p:cNvSpPr txBox="1"/>
          <p:nvPr/>
        </p:nvSpPr>
        <p:spPr>
          <a:xfrm>
            <a:off x="743463" y="1243786"/>
            <a:ext cx="956047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รูปแบบการจัดเก็บเพื่อจะเรียกใช้คำพ้องความหมายหรือ </a:t>
            </a:r>
            <a:r>
              <a:rPr lang="en-US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synonyms </a:t>
            </a:r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จะเก็บอยู่ในรูปแบบนี้ </a:t>
            </a:r>
            <a:r>
              <a:rPr lang="en-US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csv </a:t>
            </a:r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ไฟล์โดย</a:t>
            </a:r>
            <a:r>
              <a:rPr lang="th-TH" sz="2600" kern="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แบบลักษณะคำที่เรียกว่าพ้องความหมายทั่วไป</a:t>
            </a:r>
            <a:r>
              <a:rPr lang="en-US" sz="2600" kern="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 </a:t>
            </a:r>
            <a:r>
              <a:rPr lang="en-US" sz="2600" kern="0" dirty="0"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(</a:t>
            </a:r>
            <a:r>
              <a:rPr lang="en-US" sz="2600" kern="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Synonym Set)</a:t>
            </a:r>
            <a:r>
              <a:rPr lang="th-TH" sz="2600" kern="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 มีความหมายว่า </a:t>
            </a:r>
            <a:r>
              <a:rPr lang="en-US" sz="2600" kern="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“</a:t>
            </a:r>
            <a:r>
              <a:rPr lang="th-TH" sz="2600" b="1" kern="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คำในบรรทัดเดียวกันจะถือว่ามีความหมายเหมือนกันทั้งหมด สามารถใช้แทนกันได้ในทุกกรณี</a:t>
            </a:r>
            <a:r>
              <a:rPr lang="en-US" sz="2600" kern="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”</a:t>
            </a:r>
            <a:r>
              <a:rPr lang="th-TH" sz="2600" kern="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 เช่น </a:t>
            </a:r>
            <a:endParaRPr lang="en-US" sz="2600" kern="0" dirty="0">
              <a:effectLst/>
              <a:latin typeface="TH Sarabun New" panose="020B0500040200020003" pitchFamily="34" charset="-34"/>
              <a:ea typeface="Arial Unicode MS"/>
              <a:cs typeface="TH Sarabun New" panose="020B0500040200020003" pitchFamily="34" charset="-34"/>
            </a:endParaRPr>
          </a:p>
          <a:p>
            <a:r>
              <a:rPr lang="en-US" sz="2600" kern="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Sulfur</a:t>
            </a:r>
            <a:r>
              <a:rPr lang="en-US" sz="2600" kern="0" dirty="0"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,</a:t>
            </a:r>
            <a:r>
              <a:rPr lang="en-US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600" kern="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กำมะถัน</a:t>
            </a:r>
            <a:r>
              <a:rPr lang="en-US" sz="2600" kern="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,</a:t>
            </a:r>
            <a:r>
              <a:rPr lang="en-US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600" kern="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ซัลเฟอร์</a:t>
            </a:r>
            <a:r>
              <a:rPr lang="en-US" sz="2600" kern="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,</a:t>
            </a:r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600" kern="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Sulphur</a:t>
            </a:r>
            <a:endParaRPr lang="th-TH" sz="2600" kern="0" dirty="0">
              <a:effectLst/>
              <a:latin typeface="TH Sarabun New" panose="020B0500040200020003" pitchFamily="34" charset="-34"/>
              <a:ea typeface="Arial Unicode MS"/>
              <a:cs typeface="TH Sarabun New" panose="020B0500040200020003" pitchFamily="34" charset="-34"/>
            </a:endParaRPr>
          </a:p>
          <a:p>
            <a:r>
              <a:rPr lang="en-US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LPG, Liquified Petroleum Gas, </a:t>
            </a:r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ก๊าซหุงต้ม</a:t>
            </a:r>
            <a:r>
              <a:rPr lang="en-US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th-TH" sz="2600" kern="0" dirty="0">
              <a:effectLst/>
              <a:latin typeface="TH Sarabun New" panose="020B0500040200020003" pitchFamily="34" charset="-34"/>
              <a:ea typeface="Arial Unicode MS"/>
              <a:cs typeface="TH Sarabun New" panose="020B0500040200020003" pitchFamily="34" charset="-34"/>
            </a:endParaRPr>
          </a:p>
          <a:p>
            <a:endParaRPr lang="th-TH" sz="26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จากด้านตัวอย่างด้านบนมีความหมายว่า </a:t>
            </a:r>
            <a:r>
              <a:rPr lang="en-US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 </a:t>
            </a:r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บรรทัดจะแทนคำ</a:t>
            </a:r>
            <a:r>
              <a:rPr lang="en-US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1 </a:t>
            </a:r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คำซึ่งแต่ละคำมีความหมายเท่ากันทั้งหมดกล่าวคือถ้าเราค้นหาคำว่า </a:t>
            </a:r>
            <a:r>
              <a:rPr lang="en-US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Sulfur </a:t>
            </a:r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แล้วในระบบมีทั้ง </a:t>
            </a:r>
            <a:r>
              <a:rPr lang="en-US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Sulfur </a:t>
            </a:r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และกำมะถัน ทั้ง</a:t>
            </a:r>
            <a:r>
              <a:rPr lang="en-US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</a:t>
            </a:r>
            <a:r>
              <a:rPr lang="th-TH" sz="2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คำก็จะถูกแสดงขึ้นมาทั้งคู่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03A3D1-96A5-0D1E-81E8-4B71D27C8D8A}"/>
              </a:ext>
            </a:extLst>
          </p:cNvPr>
          <p:cNvSpPr txBox="1"/>
          <p:nvPr/>
        </p:nvSpPr>
        <p:spPr>
          <a:xfrm>
            <a:off x="743462" y="708878"/>
            <a:ext cx="963506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Synonym dictionary </a:t>
            </a:r>
            <a:r>
              <a:rPr lang="th-TH" sz="26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sz="26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B4A6E7-AD59-4321-C3F1-5BD94EEF3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556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7D6ED-85DE-7C76-F01E-D7A23ACAF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CBCE0CB-AE02-4480-4AA9-625A943BB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7139354" cy="494402"/>
          </a:xfrm>
        </p:spPr>
        <p:txBody>
          <a:bodyPr>
            <a:normAutofit/>
          </a:bodyPr>
          <a:lstStyle/>
          <a:p>
            <a:pPr algn="l"/>
            <a:r>
              <a:rPr lang="en-US" sz="2600" b="1" i="0" u="none" strike="noStrike" baseline="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3</a:t>
            </a:r>
            <a:r>
              <a:rPr lang="th-TH" sz="2600" b="1" i="0" u="none" strike="noStrike" baseline="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.แนวคิดและวิธีการวิจัย</a:t>
            </a: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F6D7EE-C334-F32C-B758-8F9EEA906C8E}"/>
              </a:ext>
            </a:extLst>
          </p:cNvPr>
          <p:cNvSpPr txBox="1"/>
          <p:nvPr/>
        </p:nvSpPr>
        <p:spPr>
          <a:xfrm>
            <a:off x="743462" y="708878"/>
            <a:ext cx="963506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Daily Batch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F6C3AD-6F98-819E-7866-C4592AD9FE51}"/>
              </a:ext>
            </a:extLst>
          </p:cNvPr>
          <p:cNvSpPr txBox="1"/>
          <p:nvPr/>
        </p:nvSpPr>
        <p:spPr>
          <a:xfrm>
            <a:off x="1101429" y="1268720"/>
            <a:ext cx="866526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Data pipeline </a:t>
            </a:r>
            <a:r>
              <a:rPr lang="th-TH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ของการดึงขอข้อมูลจากเว็บไซต์ของ</a:t>
            </a:r>
            <a:r>
              <a:rPr lang="th-TH" sz="280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องค์การบริหารจัดการก๊าซเรือนกระจก โดยจะแบ่งการทำงานออกเป็น </a:t>
            </a:r>
            <a:r>
              <a:rPr lang="en-US" sz="280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2 </a:t>
            </a:r>
            <a:r>
              <a:rPr lang="th-TH" sz="280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ส่วนใหญ่ๆคือการนำข้อมูลที่ได้มาจากองค์การบริหารจัดการก๊าซเรือนกระจก มาประมวลผล</a:t>
            </a:r>
            <a:endParaRPr lang="en-US" sz="2800" dirty="0">
              <a:effectLst/>
              <a:latin typeface="TH Sarabun New" panose="020B0500040200020003" pitchFamily="34" charset="-34"/>
              <a:ea typeface="Arial Unicode MS"/>
              <a:cs typeface="TH Sarabun New" panose="020B0500040200020003" pitchFamily="34" charset="-34"/>
            </a:endParaRPr>
          </a:p>
          <a:p>
            <a:r>
              <a:rPr lang="th-TH" sz="2800" dirty="0"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จากนั้นอัปเดตข้อมูลในกรณีที่ข้อมูลเกิดการเปลี่ยนแปลงค่าสัมประสิทธิ์การปล่อยก๊าซเรือนกระจก</a:t>
            </a:r>
            <a:endParaRPr lang="th-TH" sz="2800" dirty="0">
              <a:effectLst/>
              <a:latin typeface="TH Sarabun New" panose="020B0500040200020003" pitchFamily="34" charset="-34"/>
              <a:ea typeface="Arial Unicode MS"/>
              <a:cs typeface="TH Sarabun New" panose="020B0500040200020003" pitchFamily="34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F4C811-246A-ABE4-893E-F439978B2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4662" y="517533"/>
            <a:ext cx="1890833" cy="3528147"/>
          </a:xfrm>
          <a:prstGeom prst="rect">
            <a:avLst/>
          </a:prstGeom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31A783-5A54-B506-FBA3-624AC81E5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338" y="3582888"/>
            <a:ext cx="7812143" cy="297204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174724-70CF-4D8A-D750-23E994DBF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225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B9FCA-5022-D7F3-454D-6F7BA3E0A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DBCC0F-6BFB-5E15-80CF-9D2AB0088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7139354" cy="494402"/>
          </a:xfrm>
        </p:spPr>
        <p:txBody>
          <a:bodyPr>
            <a:normAutofit/>
          </a:bodyPr>
          <a:lstStyle/>
          <a:p>
            <a:pPr algn="l"/>
            <a:r>
              <a:rPr lang="en-US" sz="2600" b="1" i="0" u="none" strike="noStrike" baseline="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3</a:t>
            </a:r>
            <a:r>
              <a:rPr lang="th-TH" sz="2600" b="1" i="0" u="none" strike="noStrike" baseline="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.แนวคิดและวิธีการวิจัย</a:t>
            </a:r>
            <a:endParaRPr lang="en-US" sz="2600" b="1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FB294B-48A3-C3BD-7611-161AD3E2C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401" y="1468835"/>
            <a:ext cx="8204200" cy="47559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B3A038-0CF0-366C-DAE3-CD8BC089B748}"/>
              </a:ext>
            </a:extLst>
          </p:cNvPr>
          <p:cNvSpPr txBox="1"/>
          <p:nvPr/>
        </p:nvSpPr>
        <p:spPr>
          <a:xfrm>
            <a:off x="2150534" y="750786"/>
            <a:ext cx="7139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โดยจากรูป เป็นข้อมูลตัวอย่างที่แสดงหลังจากรวมข้อมูลทั้ง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ตารางเข้าไว้ด้วยกันแล้ว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836C4E-07A3-931F-E191-9BB42B1CD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1072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8A225-91C0-5FCA-C4B5-D6F6F34C8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EEDEBF-E45E-4A38-4E80-4B2F47EE2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7139354" cy="494402"/>
          </a:xfrm>
        </p:spPr>
        <p:txBody>
          <a:bodyPr>
            <a:normAutofit/>
          </a:bodyPr>
          <a:lstStyle/>
          <a:p>
            <a:pPr algn="l"/>
            <a:r>
              <a:rPr lang="en-US" sz="26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3</a:t>
            </a:r>
            <a:r>
              <a:rPr lang="th-TH" sz="2600" b="1" i="0" u="none" strike="noStrike" baseline="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.แนวคิดและวิธีการวิจัย</a:t>
            </a: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F23E2E-E3FD-F715-7D52-A15C917701D5}"/>
              </a:ext>
            </a:extLst>
          </p:cNvPr>
          <p:cNvSpPr txBox="1"/>
          <p:nvPr/>
        </p:nvSpPr>
        <p:spPr>
          <a:xfrm>
            <a:off x="838566" y="706468"/>
            <a:ext cx="96350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Elasticsearch Index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EA981B-8126-B92A-D411-B15A4CC61757}"/>
              </a:ext>
            </a:extLst>
          </p:cNvPr>
          <p:cNvSpPr txBox="1"/>
          <p:nvPr/>
        </p:nvSpPr>
        <p:spPr>
          <a:xfrm>
            <a:off x="1101428" y="1268720"/>
            <a:ext cx="916017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800" dirty="0"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งานวิจัยนี้จะนำเสนอการค้นหาแบบวิธี </a:t>
            </a:r>
            <a:r>
              <a:rPr lang="en-US" sz="2800" dirty="0"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hybrid </a:t>
            </a:r>
            <a:r>
              <a:rPr lang="th-TH" sz="2800" dirty="0"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ซึ่งวิธีการค้นหาแบบ </a:t>
            </a:r>
            <a:r>
              <a:rPr lang="en-US" sz="2800" dirty="0"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hybrid </a:t>
            </a:r>
            <a:r>
              <a:rPr lang="th-TH" sz="2800" dirty="0"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คือการรวมกันระหว่าง </a:t>
            </a:r>
            <a:r>
              <a:rPr lang="en-US" sz="2800" dirty="0"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keyword search </a:t>
            </a:r>
            <a:r>
              <a:rPr lang="th-TH" sz="2800" dirty="0"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และ </a:t>
            </a:r>
            <a:r>
              <a:rPr lang="en-US" sz="2800" dirty="0"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vector search</a:t>
            </a:r>
          </a:p>
          <a:p>
            <a:endParaRPr lang="th-TH" sz="2800" dirty="0">
              <a:latin typeface="TH Sarabun New" panose="020B0500040200020003" pitchFamily="34" charset="-34"/>
              <a:ea typeface="Arial Unicode MS"/>
              <a:cs typeface="TH Sarabun New" panose="020B0500040200020003" pitchFamily="34" charset="-34"/>
            </a:endParaRPr>
          </a:p>
          <a:p>
            <a:r>
              <a:rPr lang="en-US" sz="2800" b="1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Keyword/Lexical Search </a:t>
            </a:r>
            <a:r>
              <a:rPr lang="th-TH" sz="280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คือ </a:t>
            </a:r>
            <a:r>
              <a:rPr lang="th-TH" sz="2800" kern="0" dirty="0">
                <a:effectLst/>
                <a:ea typeface="Arial Unicode MS"/>
                <a:cs typeface="TH Sarabun New" panose="020B0500040200020003" pitchFamily="34" charset="-34"/>
              </a:rPr>
              <a:t>การค้นหาตามคำที่ตรงกันแบบตัวอักษร จะมีประสิทธิภาพดีเมื่อมีการควบคุมข้อมูลที่มีโครงสร้างและผู้ใช้มีความชัดเจนในสิ่งที่ต้องการค้นหา </a:t>
            </a:r>
          </a:p>
          <a:p>
            <a:endParaRPr lang="th-TH" sz="2800" kern="0" dirty="0">
              <a:latin typeface="TH Sarabun New" panose="020B0500040200020003" pitchFamily="34" charset="-34"/>
              <a:ea typeface="Arial Unicode MS"/>
              <a:cs typeface="TH Sarabun New" panose="020B0500040200020003" pitchFamily="34" charset="-34"/>
            </a:endParaRPr>
          </a:p>
          <a:p>
            <a:r>
              <a:rPr lang="en-US" sz="2800" b="1" kern="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Vector search </a:t>
            </a:r>
            <a:r>
              <a:rPr lang="th-TH" sz="2800" kern="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คือ </a:t>
            </a:r>
            <a:r>
              <a:rPr lang="th-TH" sz="2800" kern="0" dirty="0">
                <a:effectLst/>
                <a:ea typeface="Arial Unicode MS"/>
                <a:cs typeface="TH Sarabun New" panose="020B0500040200020003" pitchFamily="34" charset="-34"/>
              </a:rPr>
              <a:t>ค้นหาตามความหมายผ่าน </a:t>
            </a:r>
            <a:r>
              <a:rPr lang="en-US" sz="2800" kern="0" dirty="0">
                <a:effectLst/>
                <a:latin typeface="TH Sarabun New" panose="020B0500040200020003" pitchFamily="34" charset="-34"/>
                <a:ea typeface="Arial Unicode MS"/>
              </a:rPr>
              <a:t>Dense Vector </a:t>
            </a:r>
            <a:r>
              <a:rPr lang="th-TH" sz="2800" kern="0" dirty="0">
                <a:effectLst/>
                <a:ea typeface="Arial Unicode MS"/>
                <a:cs typeface="TH Sarabun New" panose="020B0500040200020003" pitchFamily="34" charset="-34"/>
              </a:rPr>
              <a:t>เหมาะสำหรับการค้นหาแนวคิดที่คล้ายกัน และการค้นหาแบบสนทนาที่ผู้ใช้ไม่สามารถระบุคำค้นที่แม่นยำได้ </a:t>
            </a:r>
            <a:endParaRPr lang="th-TH" sz="2800" dirty="0">
              <a:effectLst/>
              <a:latin typeface="TH Sarabun New" panose="020B0500040200020003" pitchFamily="34" charset="-34"/>
              <a:ea typeface="Arial Unicode MS"/>
              <a:cs typeface="TH Sarabun New" panose="020B0500040200020003" pitchFamily="34" charset="-34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33322FD-ACFA-18ED-B75C-2EC3AA0C6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7284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D986E-A661-EDEE-A822-D0A754CBD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E4D8E98-3D9C-8C4E-53B7-6861CF9462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7139354" cy="494402"/>
          </a:xfrm>
        </p:spPr>
        <p:txBody>
          <a:bodyPr>
            <a:normAutofit/>
          </a:bodyPr>
          <a:lstStyle/>
          <a:p>
            <a:pPr algn="l"/>
            <a:r>
              <a:rPr lang="en-US" sz="26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3</a:t>
            </a:r>
            <a:r>
              <a:rPr lang="th-TH" sz="2600" b="1" i="0" u="none" strike="noStrike" baseline="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.แนวคิดและวิธีการวิจัย</a:t>
            </a: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3143DF-14DB-155D-9DF3-6A2D0779CBD7}"/>
              </a:ext>
            </a:extLst>
          </p:cNvPr>
          <p:cNvSpPr txBox="1"/>
          <p:nvPr/>
        </p:nvSpPr>
        <p:spPr>
          <a:xfrm>
            <a:off x="838566" y="706468"/>
            <a:ext cx="96350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Elasticsearch Index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7EBFC3E-F666-1DD5-15E2-628E19E20519}"/>
              </a:ext>
            </a:extLst>
          </p:cNvPr>
          <p:cNvGraphicFramePr>
            <a:graphicFrameLocks noGrp="1"/>
          </p:cNvGraphicFramePr>
          <p:nvPr/>
        </p:nvGraphicFramePr>
        <p:xfrm>
          <a:off x="1544355" y="1508816"/>
          <a:ext cx="7931942" cy="28270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1545">
                  <a:extLst>
                    <a:ext uri="{9D8B030D-6E8A-4147-A177-3AD203B41FA5}">
                      <a16:colId xmlns:a16="http://schemas.microsoft.com/office/drawing/2014/main" val="1172491918"/>
                    </a:ext>
                  </a:extLst>
                </a:gridCol>
                <a:gridCol w="5190397">
                  <a:extLst>
                    <a:ext uri="{9D8B030D-6E8A-4147-A177-3AD203B41FA5}">
                      <a16:colId xmlns:a16="http://schemas.microsoft.com/office/drawing/2014/main" val="1445235016"/>
                    </a:ext>
                  </a:extLst>
                </a:gridCol>
              </a:tblGrid>
              <a:tr h="295179">
                <a:tc>
                  <a:txBody>
                    <a:bodyPr/>
                    <a:lstStyle/>
                    <a:p>
                      <a:pPr algn="ctr" fontAlgn="ctr"/>
                      <a:r>
                        <a:rPr lang="th-TH" sz="2600" u="none" strike="noStrike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องค์ประกอบหลัก</a:t>
                      </a:r>
                      <a:endParaRPr lang="th-TH" sz="2600" b="1" i="0" u="none" strike="noStrike" dirty="0">
                        <a:solidFill>
                          <a:srgbClr val="000000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2600" u="none" strike="noStrike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หน้าที่หลัก</a:t>
                      </a:r>
                      <a:endParaRPr lang="th-TH" sz="2600" b="1" i="0" u="none" strike="noStrike" dirty="0">
                        <a:solidFill>
                          <a:srgbClr val="000000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2045974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600" u="none" strike="noStrike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Document</a:t>
                      </a:r>
                      <a:endParaRPr lang="en-US" sz="2600" b="1" i="0" u="none" strike="noStrike">
                        <a:solidFill>
                          <a:srgbClr val="000000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600" u="none" strike="noStrike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หน่วยข้อมูลพื้นฐานใน </a:t>
                      </a:r>
                      <a:r>
                        <a:rPr lang="en-US" sz="2600" u="none" strike="noStrike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Elasticsearch (JSON Format)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6963605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600" u="none" strike="noStrike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Index</a:t>
                      </a:r>
                      <a:endParaRPr lang="en-US" sz="2600" b="1" i="0" u="none" strike="noStrike">
                        <a:solidFill>
                          <a:srgbClr val="000000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600" u="none" strike="noStrike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กลุ่มของ </a:t>
                      </a:r>
                      <a:r>
                        <a:rPr lang="en-US" sz="2600" u="none" strike="noStrike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Documents </a:t>
                      </a:r>
                      <a:r>
                        <a:rPr lang="th-TH" sz="2600" u="none" strike="noStrike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ที่ใช้เก็บข้อมูล</a:t>
                      </a:r>
                      <a:endParaRPr lang="th-TH" sz="2600" b="0" i="0" u="none" strike="noStrike">
                        <a:solidFill>
                          <a:srgbClr val="000000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8939768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600" u="none" strike="noStrike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Shards</a:t>
                      </a:r>
                      <a:endParaRPr lang="en-US" sz="2600" b="1" i="0" u="none" strike="noStrike" dirty="0">
                        <a:solidFill>
                          <a:srgbClr val="000000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600" u="none" strike="noStrike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แบ่งข้อมูลเป็นส่วนย่อยเพื่อกระจายโหลด</a:t>
                      </a:r>
                      <a:endParaRPr lang="th-TH" sz="2600" b="0" i="0" u="none" strike="noStrike" dirty="0">
                        <a:solidFill>
                          <a:srgbClr val="000000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1256175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600" u="none" strike="noStrike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Mappings</a:t>
                      </a:r>
                      <a:endParaRPr lang="en-US" sz="2600" b="1" i="0" u="none" strike="noStrike" dirty="0">
                        <a:solidFill>
                          <a:srgbClr val="000000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600" u="none" strike="noStrike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กำหนดโครงสร้างข้อมูล เช่น ประเภทของฟิลด์</a:t>
                      </a:r>
                      <a:endParaRPr lang="th-TH" sz="2600" b="0" i="0" u="none" strike="noStrike" dirty="0">
                        <a:solidFill>
                          <a:srgbClr val="000000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4668378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600" u="none" strike="noStrike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Analyzers</a:t>
                      </a:r>
                      <a:endParaRPr lang="en-US" sz="2600" b="1" i="0" u="none" strike="noStrike" dirty="0">
                        <a:solidFill>
                          <a:srgbClr val="000000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600" u="none" strike="noStrike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ช่วยตัดคำและจัดรูปแบบข้อมูล</a:t>
                      </a:r>
                      <a:endParaRPr lang="th-TH" sz="2600" b="0" i="0" u="none" strike="noStrike" dirty="0">
                        <a:solidFill>
                          <a:srgbClr val="000000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0924528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600" u="none" strike="noStrike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Inverted Index</a:t>
                      </a:r>
                      <a:endParaRPr lang="en-US" sz="2600" b="1" i="0" u="none" strike="noStrike" dirty="0">
                        <a:solidFill>
                          <a:srgbClr val="000000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600" u="none" strike="noStrike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โครงสร้างข้อมูลที่ช่วยค้นหาข้อมูลเร็วขึ้น</a:t>
                      </a:r>
                      <a:endParaRPr lang="th-TH" sz="2600" b="0" i="0" u="none" strike="noStrike" dirty="0">
                        <a:solidFill>
                          <a:srgbClr val="000000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1455282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F68D1FE8-1AD5-1DA5-6B71-FC0FB1282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2068" y="1123377"/>
            <a:ext cx="2265327" cy="421062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E711E4-FB51-E8C9-C21A-20D94E341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0818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5FC83-F9D8-BCAA-E71B-C76D952FA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017958-9412-0170-3629-7E57BA9231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7139354" cy="494402"/>
          </a:xfrm>
        </p:spPr>
        <p:txBody>
          <a:bodyPr>
            <a:normAutofit/>
          </a:bodyPr>
          <a:lstStyle/>
          <a:p>
            <a:pPr algn="l"/>
            <a:r>
              <a:rPr lang="en-US" sz="26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3</a:t>
            </a:r>
            <a:r>
              <a:rPr lang="th-TH" sz="2600" b="1" i="0" u="none" strike="noStrike" baseline="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.แนวคิดและวิธีการวิจัย</a:t>
            </a:r>
            <a:endParaRPr lang="en-US" sz="2600" b="1" dirty="0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1CA86A6-0DAF-B326-176E-67CB17277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55" y="914399"/>
            <a:ext cx="3712310" cy="534824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C063735-2C0A-7623-DDC1-1AE52E5F0C8F}"/>
              </a:ext>
            </a:extLst>
          </p:cNvPr>
          <p:cNvSpPr/>
          <p:nvPr/>
        </p:nvSpPr>
        <p:spPr>
          <a:xfrm>
            <a:off x="1921933" y="1507067"/>
            <a:ext cx="2243667" cy="9906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D7960A-E15D-91B7-259F-DDA535115D3E}"/>
              </a:ext>
            </a:extLst>
          </p:cNvPr>
          <p:cNvSpPr txBox="1"/>
          <p:nvPr/>
        </p:nvSpPr>
        <p:spPr>
          <a:xfrm>
            <a:off x="4842933" y="202752"/>
            <a:ext cx="71393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ส่วนของการ</a:t>
            </a:r>
            <a:r>
              <a:rPr lang="en-US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config </a:t>
            </a:r>
            <a:r>
              <a:rPr lang="th-TH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เพื่อที่ใช้ในการสร้าง </a:t>
            </a:r>
            <a:r>
              <a:rPr lang="en-US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index </a:t>
            </a:r>
            <a:r>
              <a:rPr lang="th-TH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ใน </a:t>
            </a:r>
            <a:r>
              <a:rPr lang="en-US" sz="28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elasticsearch</a:t>
            </a:r>
            <a:r>
              <a:rPr lang="en-US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โดยจะแบ่งเป็น 3 ส่วนหลักๆ</a:t>
            </a:r>
            <a:r>
              <a:rPr lang="en-US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5B49A2-AB46-B5B9-51F4-325A9A6F32F5}"/>
              </a:ext>
            </a:extLst>
          </p:cNvPr>
          <p:cNvSpPr txBox="1"/>
          <p:nvPr/>
        </p:nvSpPr>
        <p:spPr>
          <a:xfrm>
            <a:off x="5195278" y="1536701"/>
            <a:ext cx="6265334" cy="23083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synonym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หรือคำพวกความหมาย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285750" indent="-285750">
              <a:buFontTx/>
              <a:buChar char="-"/>
            </a:pPr>
            <a:r>
              <a:rPr lang="en-US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types:synonym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graph filter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ที่รองรับ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multi-word synonyms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Synonyms: </a:t>
            </a:r>
            <a:r>
              <a:rPr lang="en-US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thai_synonyms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เป็นตัว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list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ของ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synonym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ที่อ่านมาจาก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csv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ไฟล์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Expand, updateable :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สามารถอัพเดท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synonym list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ได้โดยไม่ต้อง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reindex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ข้อมูลใหม่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C66351-EBD8-C5FF-EAAF-AED8A9FF8664}"/>
              </a:ext>
            </a:extLst>
          </p:cNvPr>
          <p:cNvSpPr/>
          <p:nvPr/>
        </p:nvSpPr>
        <p:spPr>
          <a:xfrm>
            <a:off x="1574800" y="2616200"/>
            <a:ext cx="2785533" cy="3005667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1EEA37-44AD-532B-0948-C7AF8E2CBAD4}"/>
              </a:ext>
            </a:extLst>
          </p:cNvPr>
          <p:cNvSpPr txBox="1"/>
          <p:nvPr/>
        </p:nvSpPr>
        <p:spPr>
          <a:xfrm>
            <a:off x="5198533" y="4119033"/>
            <a:ext cx="4942379" cy="1569660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Analyzer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เพื่อใช้ทั้งปรับแต่งคำ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,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แยกข้อความ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,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เตรียมข้อมูล</a:t>
            </a:r>
            <a:b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endParaRPr lang="th-TH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โดยใช้ </a:t>
            </a:r>
            <a:r>
              <a:rPr lang="en-US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icu_tokenizer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เพื่อรองรับทั้งคำไทยและอังกฤษ</a:t>
            </a:r>
          </a:p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และเรียกใช้ </a:t>
            </a:r>
            <a:r>
              <a:rPr lang="en-US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synonym_filter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ที่ประกาศไว้ด้านบนมาใช้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C0221E8B-28EC-1041-42BC-FBCC8A348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156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C59EF-A480-F51B-00F6-28025C1C0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B014DB-7286-6174-18B2-49FCEF034D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7139354" cy="494402"/>
          </a:xfrm>
        </p:spPr>
        <p:txBody>
          <a:bodyPr>
            <a:normAutofit/>
          </a:bodyPr>
          <a:lstStyle/>
          <a:p>
            <a:pPr algn="l"/>
            <a:r>
              <a:rPr lang="en-US" sz="26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3</a:t>
            </a:r>
            <a:r>
              <a:rPr lang="th-TH" sz="2600" b="1" i="0" u="none" strike="noStrike" baseline="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.แนวคิดและวิธีการวิจัย</a:t>
            </a:r>
            <a:endParaRPr lang="en-US" sz="2600" b="1" dirty="0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0399ED9-A3C0-AA8E-10D8-C9956E68A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731" y="789066"/>
            <a:ext cx="4104492" cy="50698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2D5158-F747-74D8-2B13-FE2E0DA7BB49}"/>
              </a:ext>
            </a:extLst>
          </p:cNvPr>
          <p:cNvSpPr txBox="1"/>
          <p:nvPr/>
        </p:nvSpPr>
        <p:spPr>
          <a:xfrm>
            <a:off x="5994400" y="789066"/>
            <a:ext cx="5198533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Mapping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คือส่วนที่ประกาศโครงสร้างของ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index </a:t>
            </a:r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ใน </a:t>
            </a:r>
            <a:r>
              <a:rPr lang="en-US" sz="22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elasticsearch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b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โดยจะมี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column </a:t>
            </a:r>
            <a:endParaRPr lang="th-TH" sz="2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Category, Name, Unit, Factor, Reference, Last Update</a:t>
            </a:r>
          </a:p>
          <a:p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,</a:t>
            </a:r>
            <a:r>
              <a:rPr lang="en-US" sz="22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text_vector</a:t>
            </a:r>
            <a:endParaRPr lang="en-US" sz="2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endParaRPr lang="en-US" sz="2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Name : </a:t>
            </a:r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จะเป็น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column </a:t>
            </a:r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หลักที่เรียกใช้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analyzer </a:t>
            </a:r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ที่ประกาศใช้ไปก่อนหน้านี้ใช้รองรับทั้งการค้นหาแบบคำพ้องความหมาย </a:t>
            </a:r>
          </a:p>
          <a:p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การตัดคำ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, </a:t>
            </a:r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และสามารถค้นได้ทั้งภาษาไทยและภาษาอังกฤษ</a:t>
            </a:r>
          </a:p>
          <a:p>
            <a:endParaRPr lang="th-TH" sz="2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2200" b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Text_vector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จะเป็น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column </a:t>
            </a:r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ที่สร้างขึ้นเพื่อรองรับการค้นหาแบบ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hybrid </a:t>
            </a:r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โดยจะใช้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model </a:t>
            </a:r>
            <a:b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“</a:t>
            </a:r>
            <a:r>
              <a:rPr lang="en-US" sz="2200" b="0" dirty="0" err="1"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intfloat</a:t>
            </a:r>
            <a:r>
              <a:rPr lang="en-US" sz="2200" b="0" dirty="0"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/multilingual-e5-base” </a:t>
            </a:r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เพื่อ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embedding </a:t>
            </a:r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ข้อความที่เราต้องการให้เปลี่ยนรูปแบบให้อยู่ใน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vector </a:t>
            </a:r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ที่มีความยาวหลัง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embedded 768  </a:t>
            </a:r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ใช้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cosine similarity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ในการคำนวณความใกล้เคียง</a:t>
            </a:r>
            <a:endParaRPr lang="en-US" sz="2200" b="0" dirty="0"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696581-8135-6BB7-8CCA-7D01128F6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3472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0E050-64C3-718E-A956-C8CB054AB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065967-CAF9-6150-11A7-8FBE500DF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7139354" cy="494402"/>
          </a:xfrm>
        </p:spPr>
        <p:txBody>
          <a:bodyPr>
            <a:normAutofit/>
          </a:bodyPr>
          <a:lstStyle/>
          <a:p>
            <a:pPr algn="l"/>
            <a:r>
              <a:rPr lang="en-US" sz="26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3</a:t>
            </a:r>
            <a:r>
              <a:rPr lang="th-TH" sz="2600" b="1" i="0" u="none" strike="noStrike" baseline="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.แนวคิดและวิธีการวิจัย</a:t>
            </a: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9C703B-A35C-C367-C227-A2C6D1BB7845}"/>
              </a:ext>
            </a:extLst>
          </p:cNvPr>
          <p:cNvSpPr txBox="1"/>
          <p:nvPr/>
        </p:nvSpPr>
        <p:spPr>
          <a:xfrm>
            <a:off x="1727199" y="890666"/>
            <a:ext cx="8703733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embedding </a:t>
            </a:r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คือการแปลงข้อความให้เป็น </a:t>
            </a:r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ตัวเลข 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vector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ที่คอมพิวเตอร์เข้าใจและประมวลผลได้ โดยคงความหมายและความสัมพันธ์ของข้อมูลเดิมไว้</a:t>
            </a:r>
            <a:b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เช่น "รถยนต์สีแดง" 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Vector: [0.2, -0.1, 0.8, 0.3, ..., 0.5] // 768 </a:t>
            </a:r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มิติ</a:t>
            </a:r>
            <a:endParaRPr lang="th-TH" sz="2200" b="0" dirty="0"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หลังจากเมื่อทำการค้นหาคำเช่นๆ ก็จะทำการเป็น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vector </a:t>
            </a:r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เหมือนกันแล้วมาเปรียบเทียบด้วยวิธี 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cosine similarity</a:t>
            </a:r>
          </a:p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ซึ่งค่าที่ออกมาจะมีค่าระหว่าง 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[-1,1]  </a:t>
            </a:r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ซึ่งถ้ามีค่าใกล้ 1 แสดงว่าคำค้นนั้นๆมีค่าเหมือนกันกับผลลัพธ์มากๆ</a:t>
            </a:r>
            <a:endParaRPr lang="en-US" sz="2200" b="1" dirty="0"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F7E4D1-E1B1-03D7-2870-5C17D565C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199" y="2644039"/>
            <a:ext cx="4282811" cy="233192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027583-4E3A-59B1-45E0-7453F5FE4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6428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D2A90-1C2C-7F45-EAEC-162446D68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009944-2A69-AE3C-CBB5-C005729A47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7139354" cy="494402"/>
          </a:xfrm>
        </p:spPr>
        <p:txBody>
          <a:bodyPr>
            <a:normAutofit/>
          </a:bodyPr>
          <a:lstStyle/>
          <a:p>
            <a:pPr algn="l"/>
            <a:r>
              <a:rPr lang="en-US" sz="2600" b="1" i="0" u="none" strike="noStrike" baseline="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4</a:t>
            </a:r>
            <a:r>
              <a:rPr lang="th-TH" sz="2600" b="1" i="0" u="none" strike="noStrike" baseline="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</a:t>
            </a:r>
            <a:r>
              <a:rPr lang="th-TH" sz="26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การทดลอง</a:t>
            </a: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338D45-3064-3DF6-662F-2A7A55477F34}"/>
              </a:ext>
            </a:extLst>
          </p:cNvPr>
          <p:cNvSpPr txBox="1"/>
          <p:nvPr/>
        </p:nvSpPr>
        <p:spPr>
          <a:xfrm>
            <a:off x="808567" y="810167"/>
            <a:ext cx="9647766" cy="321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7490" marR="0" indent="-237490">
              <a:buNone/>
            </a:pPr>
            <a:r>
              <a:rPr lang="th-TH" sz="2800" b="1" dirty="0">
                <a:solidFill>
                  <a:srgbClr val="000000"/>
                </a:solidFill>
                <a:effectLst/>
                <a:latin typeface="TH Sarabun New" panose="020B0500040200020003" pitchFamily="34" charset="-34"/>
                <a:ea typeface="Times New Roman" panose="02020603050405020304" pitchFamily="18" charset="0"/>
                <a:cs typeface="TH Sarabun New" panose="020B0500040200020003" pitchFamily="34" charset="-34"/>
              </a:rPr>
              <a:t>ข้อมูลที่ใช้ในการทดลอง</a:t>
            </a:r>
            <a:endParaRPr lang="en-US" sz="2800" b="1" dirty="0">
              <a:solidFill>
                <a:srgbClr val="000000"/>
              </a:solidFill>
              <a:effectLst/>
              <a:latin typeface="TH Sarabun New" panose="020B0500040200020003" pitchFamily="34" charset="-34"/>
              <a:ea typeface="Times New Roman" panose="02020603050405020304" pitchFamily="18" charset="0"/>
              <a:cs typeface="TH Sarabun New" panose="020B0500040200020003" pitchFamily="34" charset="-34"/>
            </a:endParaRPr>
          </a:p>
          <a:p>
            <a:pPr marL="237490" marR="0" indent="457200" algn="thaiDist">
              <a:spcBef>
                <a:spcPts val="600"/>
              </a:spcBef>
              <a:spcAft>
                <a:spcPts val="600"/>
              </a:spcAft>
              <a:buNone/>
            </a:pPr>
            <a:r>
              <a:rPr lang="th-TH" sz="280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ฐานข้อมูลค่าสัมประสิทธิ์การปล่อยก๊าซเรือนกระจกที่ใช้ในการทดลองประกอบด้วยข้อมูลทั้งหมด</a:t>
            </a:r>
            <a:r>
              <a:rPr lang="ar-SA" sz="280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 </a:t>
            </a:r>
            <a:r>
              <a:rPr lang="en-US" sz="280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9990</a:t>
            </a:r>
            <a:r>
              <a:rPr lang="ar-SA" sz="2800" dirty="0">
                <a:effectLst/>
                <a:latin typeface="TH Sarabun New" panose="020B0500040200020003" pitchFamily="34" charset="-34"/>
                <a:ea typeface="Arial Unicode MS"/>
              </a:rPr>
              <a:t> </a:t>
            </a:r>
            <a:r>
              <a:rPr lang="th-TH" sz="280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รายการ รวบรวมจากเว็บไซต์ อบก. ประกอบด้วย</a:t>
            </a:r>
            <a:endParaRPr lang="en-US" sz="2800" dirty="0">
              <a:effectLst/>
              <a:latin typeface="TH Sarabun New" panose="020B0500040200020003" pitchFamily="34" charset="-34"/>
              <a:ea typeface="Arial Unicode MS"/>
              <a:cs typeface="TH Sarabun New" panose="020B0500040200020003" pitchFamily="34" charset="-34"/>
            </a:endParaRPr>
          </a:p>
          <a:p>
            <a:pPr marL="800100" marR="0" indent="-342900">
              <a:spcBef>
                <a:spcPts val="600"/>
              </a:spcBef>
              <a:spcAft>
                <a:spcPts val="600"/>
              </a:spcAft>
              <a:buAutoNum type="arabicParenR"/>
            </a:pPr>
            <a:r>
              <a:rPr lang="en-US" sz="280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Carbon Footprint for Organization (CFO) </a:t>
            </a:r>
            <a:r>
              <a:rPr lang="th-TH" sz="280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จำนวน</a:t>
            </a:r>
            <a:r>
              <a:rPr lang="ar-SA" sz="280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 49 </a:t>
            </a:r>
            <a:r>
              <a:rPr lang="th-TH" sz="280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รายการ</a:t>
            </a:r>
            <a:endParaRPr lang="en-US" sz="2800" dirty="0">
              <a:effectLst/>
              <a:latin typeface="TH Sarabun New" panose="020B0500040200020003" pitchFamily="34" charset="-34"/>
              <a:ea typeface="Arial Unicode MS"/>
              <a:cs typeface="TH Sarabun New" panose="020B0500040200020003" pitchFamily="34" charset="-34"/>
            </a:endParaRPr>
          </a:p>
          <a:p>
            <a:pPr marL="800100" marR="0" indent="-342900">
              <a:spcBef>
                <a:spcPts val="600"/>
              </a:spcBef>
              <a:spcAft>
                <a:spcPts val="600"/>
              </a:spcAft>
              <a:buAutoNum type="arabicParenR" startAt="2"/>
            </a:pPr>
            <a:r>
              <a:rPr lang="en-US" sz="280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Carbon Footprint for Product (CFP) </a:t>
            </a:r>
            <a:r>
              <a:rPr lang="th-TH" sz="280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จำนวน</a:t>
            </a:r>
            <a:r>
              <a:rPr lang="ar-SA" sz="280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 762 </a:t>
            </a:r>
            <a:r>
              <a:rPr lang="th-TH" sz="280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รายการ</a:t>
            </a:r>
            <a:endParaRPr lang="en-US" sz="2800" dirty="0">
              <a:effectLst/>
              <a:latin typeface="TH Sarabun New" panose="020B0500040200020003" pitchFamily="34" charset="-34"/>
              <a:ea typeface="Arial Unicode MS"/>
              <a:cs typeface="TH Sarabun New" panose="020B0500040200020003" pitchFamily="34" charset="-34"/>
            </a:endParaRPr>
          </a:p>
          <a:p>
            <a:pPr marL="457200" marR="0"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3) </a:t>
            </a:r>
            <a:r>
              <a:rPr lang="th-TH" sz="280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 </a:t>
            </a:r>
            <a:r>
              <a:rPr lang="en-US" sz="280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Carbon Label Project </a:t>
            </a:r>
            <a:r>
              <a:rPr lang="th-TH" sz="280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จำนวน</a:t>
            </a:r>
            <a:r>
              <a:rPr lang="ar-SA" sz="280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 </a:t>
            </a:r>
            <a:r>
              <a:rPr lang="en-US" sz="280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9179</a:t>
            </a:r>
            <a:r>
              <a:rPr lang="ar-SA" sz="2800" dirty="0">
                <a:effectLst/>
                <a:latin typeface="TH Sarabun New" panose="020B0500040200020003" pitchFamily="34" charset="-34"/>
                <a:ea typeface="Arial Unicode MS"/>
              </a:rPr>
              <a:t> </a:t>
            </a:r>
            <a:r>
              <a:rPr lang="th-TH" sz="280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รายการ</a:t>
            </a:r>
            <a:endParaRPr lang="en-US" sz="28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CE145-2423-6378-3AE1-1E7D8D5E7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1085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BD5D0-4BCB-A36E-912B-196E31BA7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31CE24-198A-89E5-3B07-569F1AAB33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7139354" cy="494402"/>
          </a:xfrm>
        </p:spPr>
        <p:txBody>
          <a:bodyPr>
            <a:normAutofit/>
          </a:bodyPr>
          <a:lstStyle/>
          <a:p>
            <a:pPr algn="l"/>
            <a:r>
              <a:rPr lang="en-US" sz="2600" b="1" i="0" u="none" strike="noStrike" baseline="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4</a:t>
            </a:r>
            <a:r>
              <a:rPr lang="th-TH" sz="2600" b="1" i="0" u="none" strike="noStrike" baseline="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</a:t>
            </a:r>
            <a:r>
              <a:rPr lang="th-TH" sz="26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การทดลอง</a:t>
            </a: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2A7D62-6605-6A87-3190-AE88DB2259E6}"/>
              </a:ext>
            </a:extLst>
          </p:cNvPr>
          <p:cNvSpPr txBox="1"/>
          <p:nvPr/>
        </p:nvSpPr>
        <p:spPr>
          <a:xfrm>
            <a:off x="918633" y="1464783"/>
            <a:ext cx="8894234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7490" marR="0" indent="457200" algn="thaiDist">
              <a:spcBef>
                <a:spcPts val="600"/>
              </a:spcBef>
              <a:spcAft>
                <a:spcPts val="600"/>
              </a:spcAft>
              <a:buNone/>
            </a:pPr>
            <a:r>
              <a:rPr lang="th-TH" sz="240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การประเมินสมรรถนะ </a:t>
            </a:r>
            <a:r>
              <a:rPr lang="en-US" sz="240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(performance evaluation) </a:t>
            </a:r>
            <a:r>
              <a:rPr lang="th-TH" sz="240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ของระบบการค้นหาข้ามภาษาสำหรับค้นคืนค่าสัมประสิทธิ์การปล่อยก๊าซเรือนกระจกในงานวิจัยนี้ ใช้วิธีการเปรียบเทียบกับ </a:t>
            </a:r>
            <a:r>
              <a:rPr lang="en-US" sz="240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Ground Truth </a:t>
            </a:r>
            <a:r>
              <a:rPr lang="th-TH" sz="240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การทดลองแบ่งออกเป็น </a:t>
            </a:r>
            <a:r>
              <a:rPr lang="en-US" sz="240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4 </a:t>
            </a:r>
            <a:r>
              <a:rPr lang="th-TH" sz="240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แบบ ดังนี้ </a:t>
            </a:r>
            <a:endParaRPr lang="en-US" dirty="0">
              <a:effectLst/>
              <a:latin typeface="TH Sarabun New" panose="020B0500040200020003" pitchFamily="34" charset="-34"/>
              <a:ea typeface="Arial Unicode MS"/>
              <a:cs typeface="TH Sarabun New" panose="020B0500040200020003" pitchFamily="34" charset="-34"/>
            </a:endParaRPr>
          </a:p>
          <a:p>
            <a:pPr marL="342900" marR="0" lvl="0" indent="-342900">
              <a:spcBef>
                <a:spcPts val="600"/>
              </a:spcBef>
              <a:buFont typeface="+mj-lt"/>
              <a:buAutoNum type="arabicParenR"/>
            </a:pPr>
            <a:r>
              <a:rPr lang="en-US" sz="240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Keyword matching: </a:t>
            </a:r>
            <a:r>
              <a:rPr lang="th-TH" sz="240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ค้นหาแบบใช้คำสำคัญอย่างเดียว</a:t>
            </a:r>
            <a:endParaRPr lang="en-US" dirty="0">
              <a:effectLst/>
              <a:latin typeface="TH Sarabun New" panose="020B0500040200020003" pitchFamily="34" charset="-34"/>
              <a:ea typeface="Arial Unicode MS"/>
              <a:cs typeface="TH Sarabun New" panose="020B0500040200020003" pitchFamily="34" charset="-34"/>
            </a:endParaRPr>
          </a:p>
          <a:p>
            <a:pPr marL="342900" marR="0" lvl="0" indent="-342900">
              <a:buFont typeface="+mj-lt"/>
              <a:buAutoNum type="arabicParenR"/>
            </a:pPr>
            <a:r>
              <a:rPr lang="en-US" sz="240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Keyword and synonyms matching: </a:t>
            </a:r>
            <a:r>
              <a:rPr lang="th-TH" sz="240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ค้นหาแบบใช้คำสำคัญร่วมกับคำพ้องความหมาย</a:t>
            </a:r>
            <a:endParaRPr lang="en-US" dirty="0">
              <a:effectLst/>
              <a:latin typeface="TH Sarabun New" panose="020B0500040200020003" pitchFamily="34" charset="-34"/>
              <a:ea typeface="Arial Unicode MS"/>
              <a:cs typeface="TH Sarabun New" panose="020B0500040200020003" pitchFamily="34" charset="-34"/>
            </a:endParaRPr>
          </a:p>
          <a:p>
            <a:pPr marL="342900" marR="0" lvl="0" indent="-342900">
              <a:buFont typeface="+mj-lt"/>
              <a:buAutoNum type="arabicParenR"/>
            </a:pPr>
            <a:r>
              <a:rPr lang="en-US" sz="240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Vector search: </a:t>
            </a:r>
            <a:r>
              <a:rPr lang="th-TH" sz="240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ค้นหาแบบเวกเตอร์</a:t>
            </a:r>
            <a:endParaRPr lang="en-US" dirty="0">
              <a:effectLst/>
              <a:latin typeface="TH Sarabun New" panose="020B0500040200020003" pitchFamily="34" charset="-34"/>
              <a:ea typeface="Arial Unicode MS"/>
              <a:cs typeface="TH Sarabun New" panose="020B0500040200020003" pitchFamily="34" charset="-34"/>
            </a:endParaRPr>
          </a:p>
          <a:p>
            <a:pPr marL="342900" marR="0" lvl="0" indent="-342900">
              <a:spcAft>
                <a:spcPts val="600"/>
              </a:spcAft>
              <a:buFont typeface="+mj-lt"/>
              <a:buAutoNum type="arabicParenR"/>
            </a:pPr>
            <a:r>
              <a:rPr lang="en-US" sz="240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Hybrid search and synonyms matching: </a:t>
            </a:r>
            <a:r>
              <a:rPr lang="th-TH" sz="2400" dirty="0"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ค้นหาแบบผสมร่วมกับคำพ้องความหมาย</a:t>
            </a:r>
            <a:endParaRPr lang="en-US" dirty="0">
              <a:effectLst/>
              <a:latin typeface="TH Sarabun New" panose="020B0500040200020003" pitchFamily="34" charset="-34"/>
              <a:ea typeface="Arial Unicode MS"/>
              <a:cs typeface="TH Sarabun New" panose="020B0500040200020003" pitchFamily="34" charset="-34"/>
            </a:endParaRP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AEBC3F1-A172-6AEC-6276-E10B3D37C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4036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84105-DD4F-DA1F-A23A-C6BD104FD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53CF1B-52F1-1091-07D4-6F4DA9A62F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7139354" cy="494402"/>
          </a:xfrm>
        </p:spPr>
        <p:txBody>
          <a:bodyPr>
            <a:normAutofit/>
          </a:bodyPr>
          <a:lstStyle/>
          <a:p>
            <a:pPr algn="l"/>
            <a:r>
              <a:rPr lang="en-US" sz="2600" b="1" i="0" u="none" strike="noStrike" baseline="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4</a:t>
            </a:r>
            <a:r>
              <a:rPr lang="th-TH" sz="2600" b="1" i="0" u="none" strike="noStrike" baseline="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</a:t>
            </a:r>
            <a:r>
              <a:rPr lang="th-TH" sz="26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การทดลอง</a:t>
            </a:r>
            <a:endParaRPr lang="en-US" sz="2600" b="1" dirty="0">
              <a:solidFill>
                <a:schemeClr val="tx1"/>
              </a:solidFill>
            </a:endParaRPr>
          </a:p>
        </p:txBody>
      </p:sp>
      <p:pic>
        <p:nvPicPr>
          <p:cNvPr id="5" name="Picture 4" descr="A computer screen with a cursor pointing at it&#10;&#10;AI-generated content may be incorrect.">
            <a:extLst>
              <a:ext uri="{FF2B5EF4-FFF2-40B4-BE49-F238E27FC236}">
                <a16:creationId xmlns:a16="http://schemas.microsoft.com/office/drawing/2014/main" id="{46473627-1088-E027-E695-15D2AD84AF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038" y="990905"/>
            <a:ext cx="4876190" cy="48761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A7DE1D-5E70-0282-EDF2-0889918B733A}"/>
              </a:ext>
            </a:extLst>
          </p:cNvPr>
          <p:cNvSpPr txBox="1"/>
          <p:nvPr/>
        </p:nvSpPr>
        <p:spPr>
          <a:xfrm>
            <a:off x="9554633" y="6596390"/>
            <a:ext cx="61552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https://cdn-icons-png.flaticon.com/512/5110/5110617.png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08669AF-AB03-E5F3-8535-BB025FB8E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5961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287E4-A4B1-07C7-28DF-0A95D944C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A643B07-88F5-E8BA-C77B-63B9F7D493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7139354" cy="494402"/>
          </a:xfrm>
        </p:spPr>
        <p:txBody>
          <a:bodyPr>
            <a:normAutofit/>
          </a:bodyPr>
          <a:lstStyle/>
          <a:p>
            <a:pPr algn="l"/>
            <a:r>
              <a:rPr lang="th-TH" sz="2300" b="1" i="0" u="none" strike="noStrike" baseline="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5.</a:t>
            </a:r>
            <a:r>
              <a:rPr lang="th-TH" sz="23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ประเมินงานผลวิจัยและสรุป ข้อจำกัด ข้อเสนอแนะ</a:t>
            </a:r>
            <a:endParaRPr lang="en-US" sz="2300" b="1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D84871-B66B-C89E-CAC2-DC2A44571C85}"/>
              </a:ext>
            </a:extLst>
          </p:cNvPr>
          <p:cNvSpPr/>
          <p:nvPr/>
        </p:nvSpPr>
        <p:spPr>
          <a:xfrm>
            <a:off x="902989" y="915133"/>
            <a:ext cx="8852451" cy="154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6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ประเมินผลงานวิจัย ใช้ </a:t>
            </a:r>
            <a:r>
              <a:rPr lang="en-US" sz="2400" kern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Precision </a:t>
            </a:r>
            <a:r>
              <a:rPr lang="th-TH" sz="2400" kern="0" dirty="0">
                <a:solidFill>
                  <a:schemeClr val="tx1"/>
                </a:solidFill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เพื่อพิจารณาผลการค้นคืน 15 รายการแรก </a:t>
            </a:r>
            <a:r>
              <a:rPr lang="th-TH" sz="2400" kern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การประเมินจะพิจารณาความถูกต้องจากคำพ้องความด้วย ไม่ใช่แค่ </a:t>
            </a:r>
            <a:r>
              <a:rPr lang="en-US" sz="2400" kern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ea typeface="Arial Unicode MS"/>
                <a:cs typeface="TH Sarabun New" panose="020B0500040200020003" pitchFamily="34" charset="-34"/>
              </a:rPr>
              <a:t>exact match</a:t>
            </a:r>
            <a:r>
              <a:rPr lang="th-TH" sz="32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</a:p>
          <a:p>
            <a:r>
              <a:rPr lang="th-TH" sz="26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6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Recall </a:t>
            </a:r>
            <a:r>
              <a:rPr lang="th-TH" sz="26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ใช้การประเมินความครอบคลุมในของคำที่เกี่ยวข้องทั้งหมด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E0707C6-0586-2A35-D6FF-27D818C4A64E}"/>
                  </a:ext>
                </a:extLst>
              </p:cNvPr>
              <p:cNvSpPr txBox="1"/>
              <p:nvPr/>
            </p:nvSpPr>
            <p:spPr>
              <a:xfrm>
                <a:off x="428626" y="3054144"/>
                <a:ext cx="5132916" cy="7182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𝑒𝑐𝑎𝑙𝑙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จำนวนคำที่เกี่ยวข้องและถูกดึงมา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𝑇𝑃</m:t>
                              </m:r>
                            </m:e>
                          </m:d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จำนวนคำที่เกี่ยวข้องทั้งหมด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𝑇𝑃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𝐹𝑁</m:t>
                              </m:r>
                            </m:e>
                          </m:d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E0707C6-0586-2A35-D6FF-27D818C4A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26" y="3054144"/>
                <a:ext cx="5132916" cy="7182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067AEB5-2E7E-FF5B-D40E-2EFAD02F66F1}"/>
                  </a:ext>
                </a:extLst>
              </p:cNvPr>
              <p:cNvSpPr txBox="1"/>
              <p:nvPr/>
            </p:nvSpPr>
            <p:spPr>
              <a:xfrm>
                <a:off x="742951" y="4175950"/>
                <a:ext cx="6142566" cy="7243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𝑃𝑟𝑒𝑐𝑖𝑠𝑖𝑜𝑛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@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จำนวนคำที่เกี่ยวข้องและถูกดึงมา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𝑇𝑃</m:t>
                              </m:r>
                            </m:e>
                          </m:d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จำนวนคำทั้งหมดที่ถูกดึงมา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15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รายการแรก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𝑇𝑃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𝐹𝑃</m:t>
                              </m:r>
                            </m:e>
                          </m:d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067AEB5-2E7E-FF5B-D40E-2EFAD02F66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51" y="4175950"/>
                <a:ext cx="6142566" cy="7243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3A07809-5F1D-E674-D5E8-07A471FAD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4651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FD7A9-E2D0-0577-5030-3A6735ED3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06C0F3-52FC-1868-D75A-2995A7AA42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7139354" cy="494402"/>
          </a:xfrm>
        </p:spPr>
        <p:txBody>
          <a:bodyPr>
            <a:normAutofit/>
          </a:bodyPr>
          <a:lstStyle/>
          <a:p>
            <a:pPr algn="l"/>
            <a:r>
              <a:rPr lang="th-TH" sz="2300" b="1" i="0" u="none" strike="noStrike" baseline="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5.</a:t>
            </a:r>
            <a:r>
              <a:rPr lang="th-TH" sz="23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ประเมินงานผลวิจัยและสรุป ข้อจำกัด ข้อเสนอแนะ</a:t>
            </a:r>
            <a:endParaRPr lang="en-US" sz="2300" b="1" dirty="0">
              <a:solidFill>
                <a:schemeClr val="tx1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C1AEA2C-5172-7312-BE1E-9DADADF001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078393"/>
              </p:ext>
            </p:extLst>
          </p:nvPr>
        </p:nvGraphicFramePr>
        <p:xfrm>
          <a:off x="1014957" y="1011115"/>
          <a:ext cx="5448107" cy="5183530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282506">
                  <a:extLst>
                    <a:ext uri="{9D8B030D-6E8A-4147-A177-3AD203B41FA5}">
                      <a16:colId xmlns:a16="http://schemas.microsoft.com/office/drawing/2014/main" val="1815879945"/>
                    </a:ext>
                  </a:extLst>
                </a:gridCol>
                <a:gridCol w="728133">
                  <a:extLst>
                    <a:ext uri="{9D8B030D-6E8A-4147-A177-3AD203B41FA5}">
                      <a16:colId xmlns:a16="http://schemas.microsoft.com/office/drawing/2014/main" val="2216218283"/>
                    </a:ext>
                  </a:extLst>
                </a:gridCol>
                <a:gridCol w="745067">
                  <a:extLst>
                    <a:ext uri="{9D8B030D-6E8A-4147-A177-3AD203B41FA5}">
                      <a16:colId xmlns:a16="http://schemas.microsoft.com/office/drawing/2014/main" val="836951475"/>
                    </a:ext>
                  </a:extLst>
                </a:gridCol>
                <a:gridCol w="651933">
                  <a:extLst>
                    <a:ext uri="{9D8B030D-6E8A-4147-A177-3AD203B41FA5}">
                      <a16:colId xmlns:a16="http://schemas.microsoft.com/office/drawing/2014/main" val="3295868096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570061990"/>
                    </a:ext>
                  </a:extLst>
                </a:gridCol>
                <a:gridCol w="1049868">
                  <a:extLst>
                    <a:ext uri="{9D8B030D-6E8A-4147-A177-3AD203B41FA5}">
                      <a16:colId xmlns:a16="http://schemas.microsoft.com/office/drawing/2014/main" val="3867883653"/>
                    </a:ext>
                  </a:extLst>
                </a:gridCol>
              </a:tblGrid>
              <a:tr h="568524"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Query input</a:t>
                      </a:r>
                      <a:endParaRPr lang="en-US" sz="1600" b="1" kern="100" dirty="0"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Keyword </a:t>
                      </a:r>
                      <a:endParaRPr lang="en-US" sz="1600" b="1" kern="100" dirty="0"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ctr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Keyword </a:t>
                      </a:r>
                    </a:p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+</a:t>
                      </a:r>
                    </a:p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synonyms</a:t>
                      </a:r>
                      <a:endParaRPr lang="en-US" sz="1600" b="1" kern="100" dirty="0"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Hybrid </a:t>
                      </a:r>
                    </a:p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 </a:t>
                      </a:r>
                      <a:endParaRPr lang="en-US" sz="1600" b="1" kern="100" dirty="0"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ctr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Hybrid </a:t>
                      </a:r>
                    </a:p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+ </a:t>
                      </a:r>
                    </a:p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synonyms</a:t>
                      </a:r>
                      <a:endParaRPr lang="en-US" sz="1600" b="1" kern="100" dirty="0"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/>
                </a:tc>
                <a:tc>
                  <a:txBody>
                    <a:bodyPr/>
                    <a:lstStyle/>
                    <a:p>
                      <a:r>
                        <a:rPr lang="en-US" sz="1600" b="1" kern="12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Ground truth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275177"/>
                  </a:ext>
                </a:extLst>
              </a:tr>
              <a:tr h="168122"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ก๊าซหุงต้ม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20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20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20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extLst>
                  <a:ext uri="{0D108BD9-81ED-4DB2-BD59-A6C34878D82A}">
                    <a16:rowId xmlns:a16="http://schemas.microsoft.com/office/drawing/2014/main" val="3550850155"/>
                  </a:ext>
                </a:extLst>
              </a:tr>
              <a:tr h="168122"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กาแฟ </a:t>
                      </a: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Arabica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19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24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19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25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25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extLst>
                  <a:ext uri="{0D108BD9-81ED-4DB2-BD59-A6C34878D82A}">
                    <a16:rowId xmlns:a16="http://schemas.microsoft.com/office/drawing/2014/main" val="269857889"/>
                  </a:ext>
                </a:extLst>
              </a:tr>
              <a:tr h="168122"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Arabica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23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23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25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extLst>
                  <a:ext uri="{0D108BD9-81ED-4DB2-BD59-A6C34878D82A}">
                    <a16:rowId xmlns:a16="http://schemas.microsoft.com/office/drawing/2014/main" val="2326887133"/>
                  </a:ext>
                </a:extLst>
              </a:tr>
              <a:tr h="168122"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ถั่วเหลือง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16</a:t>
                      </a:r>
                      <a:r>
                        <a:rPr lang="th-TH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16</a:t>
                      </a:r>
                      <a:r>
                        <a:rPr lang="th-TH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16</a:t>
                      </a:r>
                      <a:r>
                        <a:rPr lang="th-TH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16</a:t>
                      </a:r>
                      <a:r>
                        <a:rPr lang="th-TH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16</a:t>
                      </a:r>
                      <a:r>
                        <a:rPr lang="th-TH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extLst>
                  <a:ext uri="{0D108BD9-81ED-4DB2-BD59-A6C34878D82A}">
                    <a16:rowId xmlns:a16="http://schemas.microsoft.com/office/drawing/2014/main" val="3006231716"/>
                  </a:ext>
                </a:extLst>
              </a:tr>
              <a:tr h="168122"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แก๊สโซลีน</a:t>
                      </a:r>
                      <a:endParaRPr lang="en-US" sz="1600" kern="100"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13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14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14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extLst>
                  <a:ext uri="{0D108BD9-81ED-4DB2-BD59-A6C34878D82A}">
                    <a16:rowId xmlns:a16="http://schemas.microsoft.com/office/drawing/2014/main" val="776131719"/>
                  </a:ext>
                </a:extLst>
              </a:tr>
              <a:tr h="168122"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Gasoline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7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13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13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14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extLst>
                  <a:ext uri="{0D108BD9-81ED-4DB2-BD59-A6C34878D82A}">
                    <a16:rowId xmlns:a16="http://schemas.microsoft.com/office/drawing/2014/main" val="1989949597"/>
                  </a:ext>
                </a:extLst>
              </a:tr>
              <a:tr h="168122"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A4</a:t>
                      </a:r>
                      <a:r>
                        <a:rPr lang="th-TH" sz="1600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</a:t>
                      </a: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Paper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extLst>
                  <a:ext uri="{0D108BD9-81ED-4DB2-BD59-A6C34878D82A}">
                    <a16:rowId xmlns:a16="http://schemas.microsoft.com/office/drawing/2014/main" val="3410325469"/>
                  </a:ext>
                </a:extLst>
              </a:tr>
              <a:tr h="168122"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E85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12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13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14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extLst>
                  <a:ext uri="{0D108BD9-81ED-4DB2-BD59-A6C34878D82A}">
                    <a16:rowId xmlns:a16="http://schemas.microsoft.com/office/drawing/2014/main" val="3603949381"/>
                  </a:ext>
                </a:extLst>
              </a:tr>
              <a:tr h="168122"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Ethanol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extLst>
                  <a:ext uri="{0D108BD9-81ED-4DB2-BD59-A6C34878D82A}">
                    <a16:rowId xmlns:a16="http://schemas.microsoft.com/office/drawing/2014/main" val="3901061365"/>
                  </a:ext>
                </a:extLst>
              </a:tr>
              <a:tr h="168122"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Sulphur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extLst>
                  <a:ext uri="{0D108BD9-81ED-4DB2-BD59-A6C34878D82A}">
                    <a16:rowId xmlns:a16="http://schemas.microsoft.com/office/drawing/2014/main" val="1022980930"/>
                  </a:ext>
                </a:extLst>
              </a:tr>
              <a:tr h="168122"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Sulfur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extLst>
                  <a:ext uri="{0D108BD9-81ED-4DB2-BD59-A6C34878D82A}">
                    <a16:rowId xmlns:a16="http://schemas.microsoft.com/office/drawing/2014/main" val="2114232228"/>
                  </a:ext>
                </a:extLst>
              </a:tr>
              <a:tr h="336245"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รถบรรทุก</a:t>
                      </a: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10 </a:t>
                      </a:r>
                      <a:r>
                        <a:rPr lang="th-TH" sz="1600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ล้อ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56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56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56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56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56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extLst>
                  <a:ext uri="{0D108BD9-81ED-4DB2-BD59-A6C34878D82A}">
                    <a16:rowId xmlns:a16="http://schemas.microsoft.com/office/drawing/2014/main" val="4045234743"/>
                  </a:ext>
                </a:extLst>
              </a:tr>
              <a:tr h="168122"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ผ้าถักฝ้าย สีดำ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29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29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29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29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29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extLst>
                  <a:ext uri="{0D108BD9-81ED-4DB2-BD59-A6C34878D82A}">
                    <a16:rowId xmlns:a16="http://schemas.microsoft.com/office/drawing/2014/main" val="394590546"/>
                  </a:ext>
                </a:extLst>
              </a:tr>
              <a:tr h="336245"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กระดาษคราฟท์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32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32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32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32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tc>
                  <a:txBody>
                    <a:bodyPr/>
                    <a:lstStyle/>
                    <a:p>
                      <a:pPr marL="237490" marR="0" indent="-23749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32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1117" marR="41117" marT="0" marB="0" anchor="b"/>
                </a:tc>
                <a:extLst>
                  <a:ext uri="{0D108BD9-81ED-4DB2-BD59-A6C34878D82A}">
                    <a16:rowId xmlns:a16="http://schemas.microsoft.com/office/drawing/2014/main" val="1553427205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0490AC3-09AB-84DF-1FFB-CE968DB757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6020445"/>
              </p:ext>
            </p:extLst>
          </p:nvPr>
        </p:nvGraphicFramePr>
        <p:xfrm>
          <a:off x="7447314" y="570602"/>
          <a:ext cx="4592286" cy="5632704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386818">
                  <a:extLst>
                    <a:ext uri="{9D8B030D-6E8A-4147-A177-3AD203B41FA5}">
                      <a16:colId xmlns:a16="http://schemas.microsoft.com/office/drawing/2014/main" val="1205467399"/>
                    </a:ext>
                  </a:extLst>
                </a:gridCol>
                <a:gridCol w="803704">
                  <a:extLst>
                    <a:ext uri="{9D8B030D-6E8A-4147-A177-3AD203B41FA5}">
                      <a16:colId xmlns:a16="http://schemas.microsoft.com/office/drawing/2014/main" val="3253973033"/>
                    </a:ext>
                  </a:extLst>
                </a:gridCol>
                <a:gridCol w="908244">
                  <a:extLst>
                    <a:ext uri="{9D8B030D-6E8A-4147-A177-3AD203B41FA5}">
                      <a16:colId xmlns:a16="http://schemas.microsoft.com/office/drawing/2014/main" val="313346177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36015477"/>
                    </a:ext>
                  </a:extLst>
                </a:gridCol>
                <a:gridCol w="816187">
                  <a:extLst>
                    <a:ext uri="{9D8B030D-6E8A-4147-A177-3AD203B41FA5}">
                      <a16:colId xmlns:a16="http://schemas.microsoft.com/office/drawing/2014/main" val="3484553436"/>
                    </a:ext>
                  </a:extLst>
                </a:gridCol>
              </a:tblGrid>
              <a:tr h="552098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Query input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Keyword 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Keyword </a:t>
                      </a:r>
                    </a:p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+ </a:t>
                      </a:r>
                    </a:p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synonyms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Hybrid 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Hybrid </a:t>
                      </a:r>
                    </a:p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+ </a:t>
                      </a:r>
                    </a:p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synonyms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ctr"/>
                </a:tc>
                <a:extLst>
                  <a:ext uri="{0D108BD9-81ED-4DB2-BD59-A6C34878D82A}">
                    <a16:rowId xmlns:a16="http://schemas.microsoft.com/office/drawing/2014/main" val="4287762413"/>
                  </a:ext>
                </a:extLst>
              </a:tr>
              <a:tr h="207916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ก๊าซหุงต้ม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0.40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0.50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extLst>
                  <a:ext uri="{0D108BD9-81ED-4DB2-BD59-A6C34878D82A}">
                    <a16:rowId xmlns:a16="http://schemas.microsoft.com/office/drawing/2014/main" val="1477388983"/>
                  </a:ext>
                </a:extLst>
              </a:tr>
              <a:tr h="207916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กาแฟ </a:t>
                      </a: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Arabica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0.76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0.96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0.76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extLst>
                  <a:ext uri="{0D108BD9-81ED-4DB2-BD59-A6C34878D82A}">
                    <a16:rowId xmlns:a16="http://schemas.microsoft.com/office/drawing/2014/main" val="1594509742"/>
                  </a:ext>
                </a:extLst>
              </a:tr>
              <a:tr h="207916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Arabica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0.92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0.04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0.92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extLst>
                  <a:ext uri="{0D108BD9-81ED-4DB2-BD59-A6C34878D82A}">
                    <a16:rowId xmlns:a16="http://schemas.microsoft.com/office/drawing/2014/main" val="1080844539"/>
                  </a:ext>
                </a:extLst>
              </a:tr>
              <a:tr h="207916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ถั่วเหลือง</a:t>
                      </a:r>
                      <a:endParaRPr lang="en-US" sz="1600" kern="100"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extLst>
                  <a:ext uri="{0D108BD9-81ED-4DB2-BD59-A6C34878D82A}">
                    <a16:rowId xmlns:a16="http://schemas.microsoft.com/office/drawing/2014/main" val="2951406465"/>
                  </a:ext>
                </a:extLst>
              </a:tr>
              <a:tr h="207916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แก๊สโซลีน</a:t>
                      </a:r>
                      <a:endParaRPr lang="en-US" sz="1600" kern="100"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0.57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0.93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0.57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extLst>
                  <a:ext uri="{0D108BD9-81ED-4DB2-BD59-A6C34878D82A}">
                    <a16:rowId xmlns:a16="http://schemas.microsoft.com/office/drawing/2014/main" val="1208269586"/>
                  </a:ext>
                </a:extLst>
              </a:tr>
              <a:tr h="207916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Gasoline</a:t>
                      </a:r>
                      <a:endParaRPr lang="en-US" sz="1600" kern="100"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0.50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0.93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0.57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0.93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extLst>
                  <a:ext uri="{0D108BD9-81ED-4DB2-BD59-A6C34878D82A}">
                    <a16:rowId xmlns:a16="http://schemas.microsoft.com/office/drawing/2014/main" val="996299502"/>
                  </a:ext>
                </a:extLst>
              </a:tr>
              <a:tr h="207916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A4 Paper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0.80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0.80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extLst>
                  <a:ext uri="{0D108BD9-81ED-4DB2-BD59-A6C34878D82A}">
                    <a16:rowId xmlns:a16="http://schemas.microsoft.com/office/drawing/2014/main" val="2298138402"/>
                  </a:ext>
                </a:extLst>
              </a:tr>
              <a:tr h="207916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E85</a:t>
                      </a:r>
                      <a:endParaRPr lang="en-US" sz="1600" kern="100"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0.86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0.93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extLst>
                  <a:ext uri="{0D108BD9-81ED-4DB2-BD59-A6C34878D82A}">
                    <a16:rowId xmlns:a16="http://schemas.microsoft.com/office/drawing/2014/main" val="1745024792"/>
                  </a:ext>
                </a:extLst>
              </a:tr>
              <a:tr h="207916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Ethanol</a:t>
                      </a:r>
                      <a:endParaRPr lang="en-US" sz="1600" kern="100"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0.14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0.21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0.21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0.21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extLst>
                  <a:ext uri="{0D108BD9-81ED-4DB2-BD59-A6C34878D82A}">
                    <a16:rowId xmlns:a16="http://schemas.microsoft.com/office/drawing/2014/main" val="668737617"/>
                  </a:ext>
                </a:extLst>
              </a:tr>
              <a:tr h="207916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Sulphur</a:t>
                      </a:r>
                      <a:endParaRPr lang="en-US" sz="1600" kern="100"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0.25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extLst>
                  <a:ext uri="{0D108BD9-81ED-4DB2-BD59-A6C34878D82A}">
                    <a16:rowId xmlns:a16="http://schemas.microsoft.com/office/drawing/2014/main" val="1890571755"/>
                  </a:ext>
                </a:extLst>
              </a:tr>
              <a:tr h="207916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Sulfur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0.25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0.25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1.00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extLst>
                  <a:ext uri="{0D108BD9-81ED-4DB2-BD59-A6C34878D82A}">
                    <a16:rowId xmlns:a16="http://schemas.microsoft.com/office/drawing/2014/main" val="3009579834"/>
                  </a:ext>
                </a:extLst>
              </a:tr>
              <a:tr h="207916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รถบรรทุก </a:t>
                      </a: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10</a:t>
                      </a:r>
                      <a:r>
                        <a:rPr lang="th-TH" sz="1600" kern="10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ล้อ</a:t>
                      </a:r>
                      <a:endParaRPr lang="en-US" sz="1600" kern="100"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0.98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0.31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0.87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0.98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extLst>
                  <a:ext uri="{0D108BD9-81ED-4DB2-BD59-A6C34878D82A}">
                    <a16:rowId xmlns:a16="http://schemas.microsoft.com/office/drawing/2014/main" val="3048282669"/>
                  </a:ext>
                </a:extLst>
              </a:tr>
              <a:tr h="207916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ผ้าถักฝ้าย สีดำ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1.00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extLst>
                  <a:ext uri="{0D108BD9-81ED-4DB2-BD59-A6C34878D82A}">
                    <a16:rowId xmlns:a16="http://schemas.microsoft.com/office/drawing/2014/main" val="4035908833"/>
                  </a:ext>
                </a:extLst>
              </a:tr>
              <a:tr h="207916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กระดาษคราฟท์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0.97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0.97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/>
                </a:tc>
                <a:extLst>
                  <a:ext uri="{0D108BD9-81ED-4DB2-BD59-A6C34878D82A}">
                    <a16:rowId xmlns:a16="http://schemas.microsoft.com/office/drawing/2014/main" val="906238513"/>
                  </a:ext>
                </a:extLst>
              </a:tr>
              <a:tr h="207916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Macro-average Recall</a:t>
                      </a:r>
                      <a:endParaRPr lang="en-US" sz="1600" b="1" kern="100" dirty="0"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b="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0.53</a:t>
                      </a:r>
                      <a:endParaRPr lang="en-US" sz="1600" b="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b="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0.91</a:t>
                      </a:r>
                      <a:endParaRPr lang="en-US" sz="1600" b="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b="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0.57</a:t>
                      </a:r>
                      <a:endParaRPr lang="en-US" sz="1600" b="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b="1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0.93</a:t>
                      </a:r>
                      <a:endParaRPr lang="en-US" sz="1600" b="1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5640" marR="4564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072657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FFD0E71-6075-41B2-3BF0-8F33299C9E2C}"/>
                  </a:ext>
                </a:extLst>
              </p:cNvPr>
              <p:cNvSpPr txBox="1"/>
              <p:nvPr/>
            </p:nvSpPr>
            <p:spPr>
              <a:xfrm>
                <a:off x="2487084" y="568092"/>
                <a:ext cx="614256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𝑹𝒆𝒄𝒂𝒍𝒍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FFD0E71-6075-41B2-3BF0-8F33299C9E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7084" y="568092"/>
                <a:ext cx="6142566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04FAABA-66F3-7C9C-19BD-65DFA326D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1672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A31C6-09E7-390B-4633-2631B3700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4697D34-8412-D736-9FFD-5F066F61B9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7139354" cy="494402"/>
          </a:xfrm>
        </p:spPr>
        <p:txBody>
          <a:bodyPr>
            <a:normAutofit/>
          </a:bodyPr>
          <a:lstStyle/>
          <a:p>
            <a:pPr algn="l"/>
            <a:r>
              <a:rPr lang="th-TH" sz="2300" b="1" i="0" u="none" strike="noStrike" baseline="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5.</a:t>
            </a:r>
            <a:r>
              <a:rPr lang="th-TH" sz="23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ประเมินงานผลวิจัยและสรุป ข้อจำกัด ข้อเสนอแนะ</a:t>
            </a:r>
            <a:endParaRPr lang="en-US" sz="23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74F521B-D59F-C669-0CAE-77CE98A61AE7}"/>
                  </a:ext>
                </a:extLst>
              </p:cNvPr>
              <p:cNvSpPr txBox="1"/>
              <p:nvPr/>
            </p:nvSpPr>
            <p:spPr>
              <a:xfrm>
                <a:off x="2410884" y="531247"/>
                <a:ext cx="614256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𝑷𝒓𝒆𝒄𝒊𝒔𝒊𝒐𝒏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@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74F521B-D59F-C669-0CAE-77CE98A61A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0884" y="531247"/>
                <a:ext cx="6142566" cy="461665"/>
              </a:xfrm>
              <a:prstGeom prst="rect">
                <a:avLst/>
              </a:prstGeom>
              <a:blipFill>
                <a:blip r:embed="rId2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78C6820-DD6D-F2A9-B699-F30B2C3F60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109291"/>
              </p:ext>
            </p:extLst>
          </p:nvPr>
        </p:nvGraphicFramePr>
        <p:xfrm>
          <a:off x="972170" y="1029757"/>
          <a:ext cx="3762390" cy="5352288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973395">
                  <a:extLst>
                    <a:ext uri="{9D8B030D-6E8A-4147-A177-3AD203B41FA5}">
                      <a16:colId xmlns:a16="http://schemas.microsoft.com/office/drawing/2014/main" val="4252186648"/>
                    </a:ext>
                  </a:extLst>
                </a:gridCol>
                <a:gridCol w="655395">
                  <a:extLst>
                    <a:ext uri="{9D8B030D-6E8A-4147-A177-3AD203B41FA5}">
                      <a16:colId xmlns:a16="http://schemas.microsoft.com/office/drawing/2014/main" val="2638650310"/>
                    </a:ext>
                  </a:extLst>
                </a:gridCol>
                <a:gridCol w="758613">
                  <a:extLst>
                    <a:ext uri="{9D8B030D-6E8A-4147-A177-3AD203B41FA5}">
                      <a16:colId xmlns:a16="http://schemas.microsoft.com/office/drawing/2014/main" val="3929332037"/>
                    </a:ext>
                  </a:extLst>
                </a:gridCol>
                <a:gridCol w="535094">
                  <a:extLst>
                    <a:ext uri="{9D8B030D-6E8A-4147-A177-3AD203B41FA5}">
                      <a16:colId xmlns:a16="http://schemas.microsoft.com/office/drawing/2014/main" val="2548810684"/>
                    </a:ext>
                  </a:extLst>
                </a:gridCol>
                <a:gridCol w="839893">
                  <a:extLst>
                    <a:ext uri="{9D8B030D-6E8A-4147-A177-3AD203B41FA5}">
                      <a16:colId xmlns:a16="http://schemas.microsoft.com/office/drawing/2014/main" val="1080069844"/>
                    </a:ext>
                  </a:extLst>
                </a:gridCol>
              </a:tblGrid>
              <a:tr h="805864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Query input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Keyword 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Keyword </a:t>
                      </a:r>
                    </a:p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+ synonyms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Hybrid 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Hybrid </a:t>
                      </a:r>
                    </a:p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+ </a:t>
                      </a:r>
                    </a:p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synonyms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extLst>
                  <a:ext uri="{0D108BD9-81ED-4DB2-BD59-A6C34878D82A}">
                    <a16:rowId xmlns:a16="http://schemas.microsoft.com/office/drawing/2014/main" val="1554741563"/>
                  </a:ext>
                </a:extLst>
              </a:tr>
              <a:tr h="219684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ก๊าซหุงต้ม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15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15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extLst>
                  <a:ext uri="{0D108BD9-81ED-4DB2-BD59-A6C34878D82A}">
                    <a16:rowId xmlns:a16="http://schemas.microsoft.com/office/drawing/2014/main" val="1013832155"/>
                  </a:ext>
                </a:extLst>
              </a:tr>
              <a:tr h="219684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กาแฟ </a:t>
                      </a: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Arabica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15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13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15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extLst>
                  <a:ext uri="{0D108BD9-81ED-4DB2-BD59-A6C34878D82A}">
                    <a16:rowId xmlns:a16="http://schemas.microsoft.com/office/drawing/2014/main" val="3303665941"/>
                  </a:ext>
                </a:extLst>
              </a:tr>
              <a:tr h="219684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Arabica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15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15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extLst>
                  <a:ext uri="{0D108BD9-81ED-4DB2-BD59-A6C34878D82A}">
                    <a16:rowId xmlns:a16="http://schemas.microsoft.com/office/drawing/2014/main" val="1512662115"/>
                  </a:ext>
                </a:extLst>
              </a:tr>
              <a:tr h="219684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ถั่วเหลือง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15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15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15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extLst>
                  <a:ext uri="{0D108BD9-81ED-4DB2-BD59-A6C34878D82A}">
                    <a16:rowId xmlns:a16="http://schemas.microsoft.com/office/drawing/2014/main" val="3383520921"/>
                  </a:ext>
                </a:extLst>
              </a:tr>
              <a:tr h="219684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แก๊สโซลีน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13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14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extLst>
                  <a:ext uri="{0D108BD9-81ED-4DB2-BD59-A6C34878D82A}">
                    <a16:rowId xmlns:a16="http://schemas.microsoft.com/office/drawing/2014/main" val="157383561"/>
                  </a:ext>
                </a:extLst>
              </a:tr>
              <a:tr h="219684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Gasoline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13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14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extLst>
                  <a:ext uri="{0D108BD9-81ED-4DB2-BD59-A6C34878D82A}">
                    <a16:rowId xmlns:a16="http://schemas.microsoft.com/office/drawing/2014/main" val="2146705981"/>
                  </a:ext>
                </a:extLst>
              </a:tr>
              <a:tr h="219684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A4 Paper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extLst>
                  <a:ext uri="{0D108BD9-81ED-4DB2-BD59-A6C34878D82A}">
                    <a16:rowId xmlns:a16="http://schemas.microsoft.com/office/drawing/2014/main" val="4198162530"/>
                  </a:ext>
                </a:extLst>
              </a:tr>
              <a:tr h="219684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E85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13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14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extLst>
                  <a:ext uri="{0D108BD9-81ED-4DB2-BD59-A6C34878D82A}">
                    <a16:rowId xmlns:a16="http://schemas.microsoft.com/office/drawing/2014/main" val="1738648455"/>
                  </a:ext>
                </a:extLst>
              </a:tr>
              <a:tr h="219684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Ethanol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extLst>
                  <a:ext uri="{0D108BD9-81ED-4DB2-BD59-A6C34878D82A}">
                    <a16:rowId xmlns:a16="http://schemas.microsoft.com/office/drawing/2014/main" val="11592841"/>
                  </a:ext>
                </a:extLst>
              </a:tr>
              <a:tr h="219684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Sulphur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extLst>
                  <a:ext uri="{0D108BD9-81ED-4DB2-BD59-A6C34878D82A}">
                    <a16:rowId xmlns:a16="http://schemas.microsoft.com/office/drawing/2014/main" val="3163655435"/>
                  </a:ext>
                </a:extLst>
              </a:tr>
              <a:tr h="219684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Sulfur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extLst>
                  <a:ext uri="{0D108BD9-81ED-4DB2-BD59-A6C34878D82A}">
                    <a16:rowId xmlns:a16="http://schemas.microsoft.com/office/drawing/2014/main" val="3099891428"/>
                  </a:ext>
                </a:extLst>
              </a:tr>
              <a:tr h="219684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รถบรรทุก</a:t>
                      </a: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10 </a:t>
                      </a:r>
                      <a:r>
                        <a:rPr lang="th-TH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ล้อ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15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15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r>
                        <a:rPr lang="th-TH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15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extLst>
                  <a:ext uri="{0D108BD9-81ED-4DB2-BD59-A6C34878D82A}">
                    <a16:rowId xmlns:a16="http://schemas.microsoft.com/office/drawing/2014/main" val="652590429"/>
                  </a:ext>
                </a:extLst>
              </a:tr>
              <a:tr h="219684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ผ้าถักฝ้าย สีดำ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extLst>
                  <a:ext uri="{0D108BD9-81ED-4DB2-BD59-A6C34878D82A}">
                    <a16:rowId xmlns:a16="http://schemas.microsoft.com/office/drawing/2014/main" val="4067421589"/>
                  </a:ext>
                </a:extLst>
              </a:tr>
              <a:tr h="219684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กระดาษคราฟท์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15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15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15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15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8223" marR="48223" marT="0" marB="0" anchor="ctr"/>
                </a:tc>
                <a:extLst>
                  <a:ext uri="{0D108BD9-81ED-4DB2-BD59-A6C34878D82A}">
                    <a16:rowId xmlns:a16="http://schemas.microsoft.com/office/drawing/2014/main" val="174859359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E68CDDA-314C-8DD6-3D9B-F2EA38EE4E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39739"/>
              </p:ext>
            </p:extLst>
          </p:nvPr>
        </p:nvGraphicFramePr>
        <p:xfrm>
          <a:off x="6245644" y="1029757"/>
          <a:ext cx="5487150" cy="5632704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097430">
                  <a:extLst>
                    <a:ext uri="{9D8B030D-6E8A-4147-A177-3AD203B41FA5}">
                      <a16:colId xmlns:a16="http://schemas.microsoft.com/office/drawing/2014/main" val="3977999625"/>
                    </a:ext>
                  </a:extLst>
                </a:gridCol>
                <a:gridCol w="1097430">
                  <a:extLst>
                    <a:ext uri="{9D8B030D-6E8A-4147-A177-3AD203B41FA5}">
                      <a16:colId xmlns:a16="http://schemas.microsoft.com/office/drawing/2014/main" val="2469499151"/>
                    </a:ext>
                  </a:extLst>
                </a:gridCol>
                <a:gridCol w="1097430">
                  <a:extLst>
                    <a:ext uri="{9D8B030D-6E8A-4147-A177-3AD203B41FA5}">
                      <a16:colId xmlns:a16="http://schemas.microsoft.com/office/drawing/2014/main" val="3464719706"/>
                    </a:ext>
                  </a:extLst>
                </a:gridCol>
                <a:gridCol w="1097430">
                  <a:extLst>
                    <a:ext uri="{9D8B030D-6E8A-4147-A177-3AD203B41FA5}">
                      <a16:colId xmlns:a16="http://schemas.microsoft.com/office/drawing/2014/main" val="910166677"/>
                    </a:ext>
                  </a:extLst>
                </a:gridCol>
                <a:gridCol w="1097430">
                  <a:extLst>
                    <a:ext uri="{9D8B030D-6E8A-4147-A177-3AD203B41FA5}">
                      <a16:colId xmlns:a16="http://schemas.microsoft.com/office/drawing/2014/main" val="3414541515"/>
                    </a:ext>
                  </a:extLst>
                </a:gridCol>
              </a:tblGrid>
              <a:tr h="731539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Query input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Keyword 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Keyword </a:t>
                      </a:r>
                    </a:p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+ </a:t>
                      </a:r>
                    </a:p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synonyms</a:t>
                      </a:r>
                      <a:endParaRPr lang="en-US" sz="160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Hybrid 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Hybrid </a:t>
                      </a:r>
                    </a:p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+ </a:t>
                      </a:r>
                    </a:p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synonyms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ctr"/>
                </a:tc>
                <a:extLst>
                  <a:ext uri="{0D108BD9-81ED-4DB2-BD59-A6C34878D82A}">
                    <a16:rowId xmlns:a16="http://schemas.microsoft.com/office/drawing/2014/main" val="1431096054"/>
                  </a:ext>
                </a:extLst>
              </a:tr>
              <a:tr h="19942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ก๊าซหุงต้ม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0.53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0.33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extLst>
                  <a:ext uri="{0D108BD9-81ED-4DB2-BD59-A6C34878D82A}">
                    <a16:rowId xmlns:a16="http://schemas.microsoft.com/office/drawing/2014/main" val="2380902339"/>
                  </a:ext>
                </a:extLst>
              </a:tr>
              <a:tr h="19942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กาแฟ </a:t>
                      </a: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Arabica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0.27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0.87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extLst>
                  <a:ext uri="{0D108BD9-81ED-4DB2-BD59-A6C34878D82A}">
                    <a16:rowId xmlns:a16="http://schemas.microsoft.com/office/drawing/2014/main" val="2964347593"/>
                  </a:ext>
                </a:extLst>
              </a:tr>
              <a:tr h="19942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Arabica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extLst>
                  <a:ext uri="{0D108BD9-81ED-4DB2-BD59-A6C34878D82A}">
                    <a16:rowId xmlns:a16="http://schemas.microsoft.com/office/drawing/2014/main" val="1691769312"/>
                  </a:ext>
                </a:extLst>
              </a:tr>
              <a:tr h="19942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ถั่วเหลือง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0.67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extLst>
                  <a:ext uri="{0D108BD9-81ED-4DB2-BD59-A6C34878D82A}">
                    <a16:rowId xmlns:a16="http://schemas.microsoft.com/office/drawing/2014/main" val="1042234767"/>
                  </a:ext>
                </a:extLst>
              </a:tr>
              <a:tr h="19942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แก๊สโซลีน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0.53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0.87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0.53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0.93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extLst>
                  <a:ext uri="{0D108BD9-81ED-4DB2-BD59-A6C34878D82A}">
                    <a16:rowId xmlns:a16="http://schemas.microsoft.com/office/drawing/2014/main" val="2095036168"/>
                  </a:ext>
                </a:extLst>
              </a:tr>
              <a:tr h="19942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Gasoline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0.53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0.87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0.33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0.93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extLst>
                  <a:ext uri="{0D108BD9-81ED-4DB2-BD59-A6C34878D82A}">
                    <a16:rowId xmlns:a16="http://schemas.microsoft.com/office/drawing/2014/main" val="2175973037"/>
                  </a:ext>
                </a:extLst>
              </a:tr>
              <a:tr h="19942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A4 Paper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0.27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0.33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0.27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0.33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extLst>
                  <a:ext uri="{0D108BD9-81ED-4DB2-BD59-A6C34878D82A}">
                    <a16:rowId xmlns:a16="http://schemas.microsoft.com/office/drawing/2014/main" val="21758449"/>
                  </a:ext>
                </a:extLst>
              </a:tr>
              <a:tr h="19942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E85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0.87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0.93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extLst>
                  <a:ext uri="{0D108BD9-81ED-4DB2-BD59-A6C34878D82A}">
                    <a16:rowId xmlns:a16="http://schemas.microsoft.com/office/drawing/2014/main" val="3426711075"/>
                  </a:ext>
                </a:extLst>
              </a:tr>
              <a:tr h="19942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Ethanol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0.13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0.20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0.20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0.20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extLst>
                  <a:ext uri="{0D108BD9-81ED-4DB2-BD59-A6C34878D82A}">
                    <a16:rowId xmlns:a16="http://schemas.microsoft.com/office/drawing/2014/main" val="4249903326"/>
                  </a:ext>
                </a:extLst>
              </a:tr>
              <a:tr h="19942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Sulphur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0.27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0.07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0.27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extLst>
                  <a:ext uri="{0D108BD9-81ED-4DB2-BD59-A6C34878D82A}">
                    <a16:rowId xmlns:a16="http://schemas.microsoft.com/office/drawing/2014/main" val="2225286169"/>
                  </a:ext>
                </a:extLst>
              </a:tr>
              <a:tr h="19942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Sulfur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0.07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0.27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0.07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0.27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extLst>
                  <a:ext uri="{0D108BD9-81ED-4DB2-BD59-A6C34878D82A}">
                    <a16:rowId xmlns:a16="http://schemas.microsoft.com/office/drawing/2014/main" val="261760723"/>
                  </a:ext>
                </a:extLst>
              </a:tr>
              <a:tr h="19942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รถบรรทุก 10 ล้อ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extLst>
                  <a:ext uri="{0D108BD9-81ED-4DB2-BD59-A6C34878D82A}">
                    <a16:rowId xmlns:a16="http://schemas.microsoft.com/office/drawing/2014/main" val="2924685896"/>
                  </a:ext>
                </a:extLst>
              </a:tr>
              <a:tr h="19942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ผ้าถักฝ้าย สีดำ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0.13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0.13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0.13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0.13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extLst>
                  <a:ext uri="{0D108BD9-81ED-4DB2-BD59-A6C34878D82A}">
                    <a16:rowId xmlns:a16="http://schemas.microsoft.com/office/drawing/2014/main" val="2723068839"/>
                  </a:ext>
                </a:extLst>
              </a:tr>
              <a:tr h="19942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th-TH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กระดาษคราฟท์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1.00</a:t>
                      </a:r>
                      <a:endParaRPr lang="en-US" sz="160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/>
                </a:tc>
                <a:extLst>
                  <a:ext uri="{0D108BD9-81ED-4DB2-BD59-A6C34878D82A}">
                    <a16:rowId xmlns:a16="http://schemas.microsoft.com/office/drawing/2014/main" val="2656868648"/>
                  </a:ext>
                </a:extLst>
              </a:tr>
              <a:tr h="357987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b="1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Macro-average Precision@15</a:t>
                      </a:r>
                      <a:endParaRPr lang="en-US" sz="1600" b="1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b="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0.39</a:t>
                      </a:r>
                      <a:endParaRPr lang="en-US" sz="1600" b="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b="0" kern="10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0.70</a:t>
                      </a:r>
                      <a:endParaRPr lang="en-US" sz="1600" b="0" kern="10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b="0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0.39</a:t>
                      </a:r>
                      <a:endParaRPr lang="en-US" sz="1600" b="0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b="1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0.</a:t>
                      </a:r>
                      <a:r>
                        <a:rPr lang="th-TH" sz="1600" b="1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7</a:t>
                      </a:r>
                      <a:r>
                        <a:rPr lang="en-US" sz="1600" b="1" kern="100" dirty="0"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lang="en-US" sz="1600" b="1" kern="100" dirty="0">
                        <a:effectLst/>
                        <a:latin typeface="TH Sarabun New" panose="020B0500040200020003" pitchFamily="34" charset="-34"/>
                        <a:ea typeface="Arial Unicode MS" panose="020B0604020202020204"/>
                        <a:cs typeface="TH Sarabun New" panose="020B0500040200020003" pitchFamily="34" charset="-34"/>
                      </a:endParaRPr>
                    </a:p>
                  </a:txBody>
                  <a:tcPr marL="43776" marR="43776" marT="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912355"/>
                  </a:ext>
                </a:extLst>
              </a:tr>
            </a:tbl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FB1736-63DD-6EB2-6EB4-172F71EC3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6694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F24EA-E37C-E71A-FAAD-E51053CA0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1499FE-7E0D-6492-E232-387D2F3252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7139354" cy="494402"/>
          </a:xfrm>
        </p:spPr>
        <p:txBody>
          <a:bodyPr>
            <a:normAutofit/>
          </a:bodyPr>
          <a:lstStyle/>
          <a:p>
            <a:pPr algn="l"/>
            <a:r>
              <a:rPr lang="th-TH" sz="2300" b="1" i="0" u="none" strike="noStrike" baseline="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5.</a:t>
            </a:r>
            <a:r>
              <a:rPr lang="th-TH" sz="23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ประเมินงานผลวิจัยและสรุป ข้อจำกัด ข้อเสนอแนะ</a:t>
            </a:r>
            <a:endParaRPr lang="en-US" sz="2300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E60BAE-BF8C-0398-244D-5E78E60747DE}"/>
              </a:ext>
            </a:extLst>
          </p:cNvPr>
          <p:cNvSpPr txBox="1"/>
          <p:nvPr/>
        </p:nvSpPr>
        <p:spPr>
          <a:xfrm>
            <a:off x="1699684" y="1284497"/>
            <a:ext cx="8765116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7490" marR="0" indent="-237490">
              <a:buNone/>
            </a:pPr>
            <a:r>
              <a:rPr lang="th-TH" sz="2400" b="1" dirty="0">
                <a:solidFill>
                  <a:srgbClr val="000000"/>
                </a:solidFill>
                <a:effectLst/>
                <a:latin typeface="TH Sarabun New" panose="020B0500040200020003" pitchFamily="34" charset="-34"/>
                <a:ea typeface="Times New Roman" panose="02020603050405020304" pitchFamily="18" charset="0"/>
                <a:cs typeface="TH Sarabun New" panose="020B0500040200020003" pitchFamily="34" charset="-34"/>
              </a:rPr>
              <a:t>ข้อจำกัดในงานวิจัย</a:t>
            </a:r>
            <a:endParaRPr lang="en-US" sz="2400" b="1" dirty="0">
              <a:solidFill>
                <a:srgbClr val="000000"/>
              </a:solidFill>
              <a:effectLst/>
              <a:latin typeface="TH Sarabun New" panose="020B0500040200020003" pitchFamily="34" charset="-34"/>
              <a:ea typeface="Times New Roman" panose="02020603050405020304" pitchFamily="18" charset="0"/>
              <a:cs typeface="TH Sarabun New" panose="020B0500040200020003" pitchFamily="34" charset="-34"/>
            </a:endParaRPr>
          </a:p>
          <a:p>
            <a:pPr marL="237490" marR="0" indent="457200" algn="thaiDist">
              <a:spcBef>
                <a:spcPts val="600"/>
              </a:spcBef>
              <a:spcAft>
                <a:spcPts val="600"/>
              </a:spcAft>
            </a:pPr>
            <a:r>
              <a:rPr lang="th-TH" sz="2400" dirty="0">
                <a:effectLst/>
                <a:latin typeface="Times New Roman" panose="02020603050405020304" pitchFamily="18" charset="0"/>
                <a:ea typeface="Arial Unicode MS" panose="020B0604020202020204"/>
                <a:cs typeface="TH Sarabun New" panose="020B0500040200020003" pitchFamily="34" charset="-34"/>
              </a:rPr>
              <a:t>ข้อจำกัดคือความครอบคลุมของพจนานุกรมคำพ้องความ แม้ว่าจะได้รับการพัฒนาอย่างละเอียดแต่ยังไม่ครอบคลุมคำศัพท์ใหม่ๆ ที่เกิดขึ้นอย่างต่อเนื่องในสาขาสิ่งแวดล้อมและเทคโนโลยีสะอาด รวมถึงคำศัพท์ท้องถิ่นและการเรียกชื่อแบบไม่เป็นทางการที่ใช้กันอย่างแพร่หลายในหมู่ผู้ประกอบการ</a:t>
            </a:r>
            <a:endParaRPr lang="en-US" dirty="0">
              <a:effectLst/>
              <a:latin typeface="Times New Roman" panose="02020603050405020304" pitchFamily="18" charset="0"/>
              <a:ea typeface="Arial Unicode MS" panose="020B060402020202020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DDECC8-D07F-25FC-0695-ACA831BB94F9}"/>
              </a:ext>
            </a:extLst>
          </p:cNvPr>
          <p:cNvSpPr txBox="1"/>
          <p:nvPr/>
        </p:nvSpPr>
        <p:spPr>
          <a:xfrm>
            <a:off x="1919816" y="3321931"/>
            <a:ext cx="8544983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7490" marR="0" indent="-237490">
              <a:buNone/>
            </a:pPr>
            <a:r>
              <a:rPr lang="th-TH" sz="2400" b="1" dirty="0">
                <a:solidFill>
                  <a:srgbClr val="000000"/>
                </a:solidFill>
                <a:effectLst/>
                <a:latin typeface="TH Sarabun New" panose="020B0500040200020003" pitchFamily="34" charset="-34"/>
                <a:ea typeface="Times New Roman" panose="02020603050405020304" pitchFamily="18" charset="0"/>
                <a:cs typeface="TH Sarabun New" panose="020B0500040200020003" pitchFamily="34" charset="-34"/>
              </a:rPr>
              <a:t>ข้อเสนอแนะ</a:t>
            </a:r>
            <a:endParaRPr lang="en-US" sz="2400" b="1" dirty="0">
              <a:solidFill>
                <a:srgbClr val="000000"/>
              </a:solidFill>
              <a:effectLst/>
              <a:latin typeface="TH Sarabun New" panose="020B0500040200020003" pitchFamily="34" charset="-34"/>
              <a:ea typeface="Times New Roman" panose="02020603050405020304" pitchFamily="18" charset="0"/>
              <a:cs typeface="TH Sarabun New" panose="020B0500040200020003" pitchFamily="34" charset="-34"/>
            </a:endParaRPr>
          </a:p>
          <a:p>
            <a:pPr marL="237490" marR="0" indent="457200" algn="thaiDist">
              <a:spcBef>
                <a:spcPts val="600"/>
              </a:spcBef>
              <a:spcAft>
                <a:spcPts val="600"/>
              </a:spcAft>
            </a:pPr>
            <a:r>
              <a:rPr lang="th-TH" sz="2400" dirty="0">
                <a:effectLst/>
                <a:latin typeface="TH Sarabun New" panose="020B0500040200020003" pitchFamily="34" charset="-34"/>
                <a:ea typeface="Arial Unicode MS" panose="020B0604020202020204"/>
                <a:cs typeface="TH Sarabun New" panose="020B0500040200020003" pitchFamily="34" charset="-34"/>
              </a:rPr>
              <a:t>จากข้อจำกัดและผลการวิจัยที่ได้ การวิจัยเพื่อปรับปรุงประสิทธิภาพการค้นหาเชิงความหมายโดยใช้เทคโนโลยี </a:t>
            </a:r>
            <a:r>
              <a:rPr lang="en-US" sz="2400" dirty="0">
                <a:effectLst/>
                <a:latin typeface="TH Sarabun New" panose="020B0500040200020003" pitchFamily="34" charset="-34"/>
                <a:ea typeface="Arial Unicode MS" panose="020B0604020202020204"/>
                <a:cs typeface="TH Sarabun New" panose="020B0500040200020003" pitchFamily="34" charset="-34"/>
              </a:rPr>
              <a:t>AI </a:t>
            </a:r>
            <a:r>
              <a:rPr lang="th-TH" sz="2400" dirty="0">
                <a:effectLst/>
                <a:latin typeface="TH Sarabun New" panose="020B0500040200020003" pitchFamily="34" charset="-34"/>
                <a:ea typeface="Arial Unicode MS" panose="020B0604020202020204"/>
                <a:cs typeface="TH Sarabun New" panose="020B0500040200020003" pitchFamily="34" charset="-34"/>
              </a:rPr>
              <a:t>ที่ทันสมัยเป็นสิ่งจำเป็น การนำ </a:t>
            </a:r>
            <a:r>
              <a:rPr lang="en-US" sz="2400" dirty="0">
                <a:effectLst/>
                <a:latin typeface="TH Sarabun New" panose="020B0500040200020003" pitchFamily="34" charset="-34"/>
                <a:ea typeface="Arial Unicode MS" panose="020B0604020202020204"/>
                <a:cs typeface="TH Sarabun New" panose="020B0500040200020003" pitchFamily="34" charset="-34"/>
              </a:rPr>
              <a:t>Large Language Models (LLMs) </a:t>
            </a:r>
            <a:r>
              <a:rPr lang="th-TH" sz="2400" dirty="0">
                <a:effectLst/>
                <a:latin typeface="TH Sarabun New" panose="020B0500040200020003" pitchFamily="34" charset="-34"/>
                <a:ea typeface="Arial Unicode MS" panose="020B0604020202020204"/>
                <a:cs typeface="TH Sarabun New" panose="020B0500040200020003" pitchFamily="34" charset="-34"/>
              </a:rPr>
              <a:t>ที่รองรับภาษาไทยมาใช้ อาจช่วยปรับปรุงความเข้าใจในบริบทและความหมายของคำค้น รวมถึงการพัฒนาระบบที่สามารถเรียนรู้จากพฤติกรรมการใช้งานของผู้ใช้เพื่อปรับปรุงผลลัพธ์การค้นหาให้ดีขึ้นอย่างต่อเนื่อง</a:t>
            </a:r>
            <a:endParaRPr lang="en-US" dirty="0">
              <a:effectLst/>
              <a:latin typeface="TH Sarabun New" panose="020B0500040200020003" pitchFamily="34" charset="-34"/>
              <a:ea typeface="Arial Unicode MS" panose="020B0604020202020204"/>
              <a:cs typeface="TH Sarabun New" panose="020B0500040200020003" pitchFamily="34" charset="-34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6515680-E3C7-A59E-9D63-CDB183BAD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05-063F-46C1-9253-25489D26838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52177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D211ABF73E194F9552777674A819ED" ma:contentTypeVersion="5" ma:contentTypeDescription="Create a new document." ma:contentTypeScope="" ma:versionID="988169cf93fbee5749617ad429756e1b">
  <xsd:schema xmlns:xsd="http://www.w3.org/2001/XMLSchema" xmlns:xs="http://www.w3.org/2001/XMLSchema" xmlns:p="http://schemas.microsoft.com/office/2006/metadata/properties" xmlns:ns3="05f8cd53-000c-42cc-b8f1-6cc2179124ab" targetNamespace="http://schemas.microsoft.com/office/2006/metadata/properties" ma:root="true" ma:fieldsID="05a46acbac201a43f88172d233fa135e" ns3:_="">
    <xsd:import namespace="05f8cd53-000c-42cc-b8f1-6cc2179124a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f8cd53-000c-42cc-b8f1-6cc2179124a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EA3426A-D9CD-4D97-A56B-FC5574F729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F55AD6-1987-4420-ACFB-0D631240E8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5f8cd53-000c-42cc-b8f1-6cc2179124a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2C48F46-9B33-48DB-BECB-A211F1066C6C}">
  <ds:schemaRefs>
    <ds:schemaRef ds:uri="05f8cd53-000c-42cc-b8f1-6cc2179124ab"/>
    <ds:schemaRef ds:uri="http://purl.org/dc/terms/"/>
    <ds:schemaRef ds:uri="http://purl.org/dc/dcmitype/"/>
    <ds:schemaRef ds:uri="http://schemas.microsoft.com/office/2006/metadata/properties"/>
    <ds:schemaRef ds:uri="http://purl.org/dc/elements/1.1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3756</TotalTime>
  <Words>2643</Words>
  <Application>Microsoft Office PowerPoint</Application>
  <PresentationFormat>Widescreen</PresentationFormat>
  <Paragraphs>537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Aptos</vt:lpstr>
      <vt:lpstr>Arial</vt:lpstr>
      <vt:lpstr>Arial Unicode MS</vt:lpstr>
      <vt:lpstr>Cambria Math</vt:lpstr>
      <vt:lpstr>TH Sarabun New</vt:lpstr>
      <vt:lpstr>Times New Roman</vt:lpstr>
      <vt:lpstr>Trebuchet MS</vt:lpstr>
      <vt:lpstr>Wingdings 3</vt:lpstr>
      <vt:lpstr>Facet</vt:lpstr>
      <vt:lpstr>โปรแกรมค้นหาข้ามภาษาสำหรับค้นคืนค่าสัมประสิทธิ์การปล่อยก๊าซเรือนกระจก   A CROSS-LINGUAL SEARCH ENGINE FOR RETRIEVAL OF GREENHOUSE GAS EMISSION FACTORS</vt:lpstr>
      <vt:lpstr>Outline 1.ที่มาและความสำคัญของปัญหา 2.ทฤษฎีที่เกี่ยวข้อง 3.แนวคิดและวิธีการวิจัย 4.การทดลอง 5.ประเมินงานผลวิจัยและสรุป ข้อจำกัด ข้อเสนอแนะ</vt:lpstr>
      <vt:lpstr>1.ที่มาและความสำคัญของปัญหา</vt:lpstr>
      <vt:lpstr>1.ที่มาและความสำคัญของปัญหา</vt:lpstr>
      <vt:lpstr>ขอบเขตการวิจัย</vt:lpstr>
      <vt:lpstr>ประโยชน์ที่คาดว่าจะได้รับ</vt:lpstr>
      <vt:lpstr>2.ทฤษฎีที่เกี่ยวข้อง</vt:lpstr>
      <vt:lpstr>PowerPoint Presentation</vt:lpstr>
      <vt:lpstr>PowerPoint Presentation</vt:lpstr>
      <vt:lpstr>PowerPoint Presentation</vt:lpstr>
      <vt:lpstr>PowerPoint Presentation</vt:lpstr>
      <vt:lpstr>3.แนวคิดและวิธีการวิจัย</vt:lpstr>
      <vt:lpstr>3.แนวคิดและวิธีการวิจัย</vt:lpstr>
      <vt:lpstr>3.แนวคิดและวิธีการวิจัย</vt:lpstr>
      <vt:lpstr>3.แนวคิดและวิธีการวิจัย</vt:lpstr>
      <vt:lpstr>3.แนวคิดและวิธีการวิจัย</vt:lpstr>
      <vt:lpstr>3.แนวคิดและวิธีการวิจัย</vt:lpstr>
      <vt:lpstr>3.แนวคิดและวิธีการวิจัย</vt:lpstr>
      <vt:lpstr>3.แนวคิดและวิธีการวิจัย</vt:lpstr>
      <vt:lpstr>3.แนวคิดและวิธีการวิจัย</vt:lpstr>
      <vt:lpstr>3.แนวคิดและวิธีการวิจัย</vt:lpstr>
      <vt:lpstr>4.การทดลอง</vt:lpstr>
      <vt:lpstr>4.การทดลอง</vt:lpstr>
      <vt:lpstr>4.การทดลอง</vt:lpstr>
      <vt:lpstr>5.ประเมินงานผลวิจัยและสรุป ข้อจำกัด ข้อเสนอแนะ</vt:lpstr>
      <vt:lpstr>5.ประเมินงานผลวิจัยและสรุป ข้อจำกัด ข้อเสนอแนะ</vt:lpstr>
      <vt:lpstr>5.ประเมินงานผลวิจัยและสรุป ข้อจำกัด ข้อเสนอแนะ</vt:lpstr>
      <vt:lpstr>5.ประเมินงานผลวิจัยและสรุป ข้อจำกัด ข้อเสนอแนะ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Nattapot Nuwong</dc:creator>
  <cp:lastModifiedBy>Nattapot Nuwong</cp:lastModifiedBy>
  <cp:revision>55</cp:revision>
  <dcterms:created xsi:type="dcterms:W3CDTF">2025-01-28T15:02:59Z</dcterms:created>
  <dcterms:modified xsi:type="dcterms:W3CDTF">2025-07-05T15:48:07Z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0x01010068D211ABF73E194F9552777674A819ED</vt:lpwstr>
  </property>
</Properties>
</file>